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264" r:id="rId2"/>
    <p:sldId id="288" r:id="rId3"/>
    <p:sldId id="285" r:id="rId4"/>
    <p:sldId id="257" r:id="rId5"/>
    <p:sldId id="258" r:id="rId6"/>
    <p:sldId id="289" r:id="rId7"/>
    <p:sldId id="290" r:id="rId8"/>
    <p:sldId id="291" r:id="rId9"/>
    <p:sldId id="259" r:id="rId10"/>
    <p:sldId id="262" r:id="rId11"/>
    <p:sldId id="260" r:id="rId12"/>
    <p:sldId id="263" r:id="rId13"/>
    <p:sldId id="286" r:id="rId14"/>
    <p:sldId id="287" r:id="rId15"/>
    <p:sldId id="28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1044B7-DDB9-4F5A-A095-2F6D6F4238E4}" v="17" dt="2025-10-07T19:21:57.8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showGuides="1">
      <p:cViewPr varScale="1">
        <p:scale>
          <a:sx n="78" d="100"/>
          <a:sy n="78" d="100"/>
        </p:scale>
        <p:origin x="878"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1F32C3-A5E2-4EB9-BC53-159163DBD9C7}" type="datetimeFigureOut">
              <a:rPr lang="en-IN" smtClean="0"/>
              <a:t>11-04-2026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00F4C1-48CC-46FC-8E99-4B75B9E398EC}" type="slidenum">
              <a:rPr lang="en-IN" smtClean="0"/>
              <a:t>‹#›</a:t>
            </a:fld>
            <a:endParaRPr lang="en-IN"/>
          </a:p>
        </p:txBody>
      </p:sp>
    </p:spTree>
    <p:extLst>
      <p:ext uri="{BB962C8B-B14F-4D97-AF65-F5344CB8AC3E}">
        <p14:creationId xmlns:p14="http://schemas.microsoft.com/office/powerpoint/2010/main" val="1194587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D12723-C9B0-4B30-A6DE-D882ECF3160F}"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497412952"/>
      </p:ext>
    </p:extLst>
  </p:cSld>
  <p:clrMapOvr>
    <a:masterClrMapping/>
  </p:clrMapOvr>
  <p:transition spd="slow">
    <p:pull dir="l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D12723-C9B0-4B30-A6DE-D882ECF3160F}"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2117138594"/>
      </p:ext>
    </p:extLst>
  </p:cSld>
  <p:clrMapOvr>
    <a:masterClrMapping/>
  </p:clrMapOvr>
  <p:transition spd="slow">
    <p:pull dir="l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D12723-C9B0-4B30-A6DE-D882ECF3160F}"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3370239754"/>
      </p:ext>
    </p:extLst>
  </p:cSld>
  <p:clrMapOvr>
    <a:masterClrMapping/>
  </p:clrMapOvr>
  <p:transition spd="slow">
    <p:pull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D12723-C9B0-4B30-A6DE-D882ECF3160F}"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3547575264"/>
      </p:ext>
    </p:extLst>
  </p:cSld>
  <p:clrMapOvr>
    <a:masterClrMapping/>
  </p:clrMapOvr>
  <p:transition spd="slow">
    <p:pull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D12723-C9B0-4B30-A6DE-D882ECF3160F}"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181725153"/>
      </p:ext>
    </p:extLst>
  </p:cSld>
  <p:clrMapOvr>
    <a:masterClrMapping/>
  </p:clrMapOvr>
  <p:transition spd="slow">
    <p:pull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D12723-C9B0-4B30-A6DE-D882ECF3160F}"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1661825047"/>
      </p:ext>
    </p:extLst>
  </p:cSld>
  <p:clrMapOvr>
    <a:masterClrMapping/>
  </p:clrMapOvr>
  <p:transition spd="slow">
    <p:pull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D12723-C9B0-4B30-A6DE-D882ECF3160F}"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3440453977"/>
      </p:ext>
    </p:extLst>
  </p:cSld>
  <p:clrMapOvr>
    <a:masterClrMapping/>
  </p:clrMapOvr>
  <p:transition spd="slow">
    <p:pull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D12723-C9B0-4B30-A6DE-D882ECF3160F}"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1548743668"/>
      </p:ext>
    </p:extLst>
  </p:cSld>
  <p:clrMapOvr>
    <a:masterClrMapping/>
  </p:clrMapOvr>
  <p:transition spd="slow">
    <p:pull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D12723-C9B0-4B30-A6DE-D882ECF3160F}"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2665547730"/>
      </p:ext>
    </p:extLst>
  </p:cSld>
  <p:clrMapOvr>
    <a:masterClrMapping/>
  </p:clrMapOvr>
  <p:transition spd="slow">
    <p:pull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D12723-C9B0-4B30-A6DE-D882ECF3160F}"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2966979721"/>
      </p:ext>
    </p:extLst>
  </p:cSld>
  <p:clrMapOvr>
    <a:masterClrMapping/>
  </p:clrMapOvr>
  <p:transition spd="slow">
    <p:pull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D12723-C9B0-4B30-A6DE-D882ECF3160F}"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11350491"/>
      </p:ext>
    </p:extLst>
  </p:cSld>
  <p:clrMapOvr>
    <a:masterClrMapping/>
  </p:clrMapOvr>
  <p:transition spd="slow">
    <p:pull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D12723-C9B0-4B30-A6DE-D882ECF3160F}"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3190023697"/>
      </p:ext>
    </p:extLst>
  </p:cSld>
  <p:clrMapOvr>
    <a:masterClrMapping/>
  </p:clrMapOvr>
  <p:transition spd="slow">
    <p:pull dir="l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D12723-C9B0-4B30-A6DE-D882ECF3160F}"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73175203"/>
      </p:ext>
    </p:extLst>
  </p:cSld>
  <p:clrMapOvr>
    <a:masterClrMapping/>
  </p:clrMapOvr>
  <p:transition spd="slow">
    <p:pull dir="l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D12723-C9B0-4B30-A6DE-D882ECF3160F}"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3088486442"/>
      </p:ext>
    </p:extLst>
  </p:cSld>
  <p:clrMapOvr>
    <a:masterClrMapping/>
  </p:clrMapOvr>
  <p:transition spd="slow">
    <p:pull dir="l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D12723-C9B0-4B30-A6DE-D882ECF3160F}"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459235914"/>
      </p:ext>
    </p:extLst>
  </p:cSld>
  <p:clrMapOvr>
    <a:masterClrMapping/>
  </p:clrMapOvr>
  <p:transition spd="slow">
    <p:pull dir="l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D12723-C9B0-4B30-A6DE-D882ECF3160F}"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0E469-CD0D-498B-8DDB-D7B03AB8677D}" type="slidenum">
              <a:rPr lang="en-IN" smtClean="0"/>
              <a:t>‹#›</a:t>
            </a:fld>
            <a:endParaRPr lang="en-IN"/>
          </a:p>
        </p:txBody>
      </p:sp>
    </p:spTree>
    <p:extLst>
      <p:ext uri="{BB962C8B-B14F-4D97-AF65-F5344CB8AC3E}">
        <p14:creationId xmlns:p14="http://schemas.microsoft.com/office/powerpoint/2010/main" val="3939115017"/>
      </p:ext>
    </p:extLst>
  </p:cSld>
  <p:clrMapOvr>
    <a:masterClrMapping/>
  </p:clrMapOvr>
  <p:transition spd="slow">
    <p:pull dir="l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6D12723-C9B0-4B30-A6DE-D882ECF3160F}" type="datetimeFigureOut">
              <a:rPr lang="en-IN" smtClean="0"/>
              <a:t>11-04-2026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C30E469-CD0D-498B-8DDB-D7B03AB8677D}" type="slidenum">
              <a:rPr lang="en-IN" smtClean="0"/>
              <a:t>‹#›</a:t>
            </a:fld>
            <a:endParaRPr lang="en-IN"/>
          </a:p>
        </p:txBody>
      </p:sp>
    </p:spTree>
    <p:extLst>
      <p:ext uri="{BB962C8B-B14F-4D97-AF65-F5344CB8AC3E}">
        <p14:creationId xmlns:p14="http://schemas.microsoft.com/office/powerpoint/2010/main" val="25015055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ransition spd="slow">
    <p:pull dir="ld"/>
  </p:transition>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3A78E-33C0-4D82-B35E-2776A77B16B0}"/>
              </a:ext>
            </a:extLst>
          </p:cNvPr>
          <p:cNvSpPr>
            <a:spLocks noGrp="1"/>
          </p:cNvSpPr>
          <p:nvPr>
            <p:ph type="ctrTitle"/>
          </p:nvPr>
        </p:nvSpPr>
        <p:spPr>
          <a:xfrm>
            <a:off x="1708065" y="973688"/>
            <a:ext cx="8065200" cy="2694465"/>
          </a:xfrm>
        </p:spPr>
        <p:txBody>
          <a:bodyPr/>
          <a:lstStyle/>
          <a:p>
            <a:pPr algn="ctr"/>
            <a:r>
              <a:rPr lang="en-US" sz="4000" b="1" dirty="0">
                <a:solidFill>
                  <a:schemeClr val="accent2"/>
                </a:solidFill>
                <a:latin typeface="Algerian"/>
              </a:rPr>
              <a:t> Learning PROJECT</a:t>
            </a:r>
            <a:br>
              <a:rPr lang="en-US" sz="4000" b="1" dirty="0">
                <a:latin typeface="Algerian" panose="04020705040A02060702" pitchFamily="82" charset="0"/>
              </a:rPr>
            </a:br>
            <a:r>
              <a:rPr lang="en-US" sz="4000" b="1" dirty="0">
                <a:solidFill>
                  <a:schemeClr val="accent2"/>
                </a:solidFill>
                <a:latin typeface="Algerian"/>
              </a:rPr>
              <a:t> PRESENTATION ON  “ HIRABLE AI – AN INTERVIEW TRAINER ”</a:t>
            </a:r>
            <a:endParaRPr lang="en-IN" sz="4000" b="1" dirty="0">
              <a:solidFill>
                <a:schemeClr val="accent2"/>
              </a:solidFill>
              <a:latin typeface="Algerian"/>
            </a:endParaRPr>
          </a:p>
        </p:txBody>
      </p:sp>
      <p:sp>
        <p:nvSpPr>
          <p:cNvPr id="3" name="Subtitle 2">
            <a:extLst>
              <a:ext uri="{FF2B5EF4-FFF2-40B4-BE49-F238E27FC236}">
                <a16:creationId xmlns:a16="http://schemas.microsoft.com/office/drawing/2014/main" id="{0CD26605-8667-4020-AC27-AE4D92770D34}"/>
              </a:ext>
            </a:extLst>
          </p:cNvPr>
          <p:cNvSpPr>
            <a:spLocks noGrp="1"/>
          </p:cNvSpPr>
          <p:nvPr>
            <p:ph type="subTitle" idx="1"/>
          </p:nvPr>
        </p:nvSpPr>
        <p:spPr>
          <a:xfrm>
            <a:off x="3554272" y="3597326"/>
            <a:ext cx="4372785" cy="3000120"/>
          </a:xfrm>
        </p:spPr>
        <p:txBody>
          <a:bodyPr>
            <a:normAutofit/>
          </a:bodyPr>
          <a:lstStyle/>
          <a:p>
            <a:pPr algn="ctr"/>
            <a:r>
              <a:rPr lang="en-US" sz="1600" b="1"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Presented By:</a:t>
            </a:r>
          </a:p>
          <a:p>
            <a:pPr algn="ctr"/>
            <a:endParaRPr lang="en-US" sz="1600" b="1"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endParaRPr>
          </a:p>
          <a:p>
            <a:pPr algn="ctr"/>
            <a:r>
              <a:rPr lang="en-US" sz="1600" b="1"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rPr>
              <a:t>Nitin prasad Singh (24CSEAIML205)</a:t>
            </a:r>
          </a:p>
          <a:p>
            <a:pPr algn="ctr"/>
            <a:r>
              <a:rPr lang="en-US" sz="1600" b="1" dirty="0">
                <a:solidFill>
                  <a:schemeClr val="tx1">
                    <a:lumMod val="95000"/>
                    <a:lumOff val="5000"/>
                  </a:schemeClr>
                </a:solidFill>
                <a:latin typeface="Tahoma"/>
                <a:ea typeface="Tahoma"/>
                <a:cs typeface="Tahoma"/>
              </a:rPr>
              <a:t> Swadhin </a:t>
            </a:r>
            <a:r>
              <a:rPr lang="en-US" sz="1600" b="1" dirty="0" err="1">
                <a:solidFill>
                  <a:schemeClr val="tx1">
                    <a:lumMod val="95000"/>
                    <a:lumOff val="5000"/>
                  </a:schemeClr>
                </a:solidFill>
                <a:latin typeface="Tahoma"/>
                <a:ea typeface="Tahoma"/>
                <a:cs typeface="Tahoma"/>
              </a:rPr>
              <a:t>kumar</a:t>
            </a:r>
            <a:r>
              <a:rPr lang="en-US" sz="1600" b="1" dirty="0">
                <a:solidFill>
                  <a:schemeClr val="tx1">
                    <a:lumMod val="95000"/>
                    <a:lumOff val="5000"/>
                  </a:schemeClr>
                </a:solidFill>
                <a:latin typeface="Tahoma"/>
                <a:ea typeface="Tahoma"/>
                <a:cs typeface="Tahoma"/>
              </a:rPr>
              <a:t> Panda (24CSEAIML193)</a:t>
            </a:r>
          </a:p>
          <a:p>
            <a:pPr algn="ctr"/>
            <a:r>
              <a:rPr lang="en-US" sz="1600" b="1" dirty="0">
                <a:solidFill>
                  <a:schemeClr val="tx1">
                    <a:lumMod val="95000"/>
                    <a:lumOff val="5000"/>
                  </a:schemeClr>
                </a:solidFill>
                <a:latin typeface="Tahoma"/>
                <a:ea typeface="Tahoma"/>
                <a:cs typeface="Tahoma"/>
              </a:rPr>
              <a:t>Subhashree Panda (24CSEAIML197)</a:t>
            </a:r>
          </a:p>
          <a:p>
            <a:pPr algn="ctr"/>
            <a:endParaRPr lang="en-US" sz="1600" b="1" dirty="0">
              <a:solidFill>
                <a:schemeClr val="tx1">
                  <a:lumMod val="95000"/>
                  <a:lumOff val="5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67BC470E-950F-43C5-962F-3C28BC60A8D9}"/>
              </a:ext>
            </a:extLst>
          </p:cNvPr>
          <p:cNvPicPr/>
          <p:nvPr/>
        </p:nvPicPr>
        <p:blipFill>
          <a:blip r:embed="rId2" cstate="print"/>
          <a:srcRect/>
          <a:stretch>
            <a:fillRect/>
          </a:stretch>
        </p:blipFill>
        <p:spPr bwMode="auto">
          <a:xfrm>
            <a:off x="0" y="98284"/>
            <a:ext cx="1853658" cy="1637440"/>
          </a:xfrm>
          <a:prstGeom prst="rect">
            <a:avLst/>
          </a:prstGeom>
          <a:ln>
            <a:noFill/>
          </a:ln>
          <a:effectLst>
            <a:innerShdw blurRad="114300">
              <a:prstClr val="black"/>
            </a:innerShdw>
            <a:softEdge rad="0"/>
          </a:effectLst>
        </p:spPr>
      </p:pic>
      <p:sp>
        <p:nvSpPr>
          <p:cNvPr id="8" name="TextBox 8">
            <a:extLst>
              <a:ext uri="{FF2B5EF4-FFF2-40B4-BE49-F238E27FC236}">
                <a16:creationId xmlns:a16="http://schemas.microsoft.com/office/drawing/2014/main" id="{E3B93A76-2E58-437A-96EC-A6F76D6283DD}"/>
              </a:ext>
            </a:extLst>
          </p:cNvPr>
          <p:cNvSpPr txBox="1">
            <a:spLocks noChangeArrowheads="1"/>
          </p:cNvSpPr>
          <p:nvPr/>
        </p:nvSpPr>
        <p:spPr bwMode="auto">
          <a:xfrm>
            <a:off x="2458865" y="443514"/>
            <a:ext cx="6815138" cy="369888"/>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endParaRPr lang="en-IN" altLang="en-US"/>
          </a:p>
        </p:txBody>
      </p:sp>
      <p:sp>
        <p:nvSpPr>
          <p:cNvPr id="9" name="TextBox 9">
            <a:extLst>
              <a:ext uri="{FF2B5EF4-FFF2-40B4-BE49-F238E27FC236}">
                <a16:creationId xmlns:a16="http://schemas.microsoft.com/office/drawing/2014/main" id="{ADBF4484-A8C4-4BAF-B597-AAB3CA324DBC}"/>
              </a:ext>
            </a:extLst>
          </p:cNvPr>
          <p:cNvSpPr txBox="1">
            <a:spLocks noChangeArrowheads="1"/>
          </p:cNvSpPr>
          <p:nvPr/>
        </p:nvSpPr>
        <p:spPr bwMode="auto">
          <a:xfrm>
            <a:off x="2164463" y="413292"/>
            <a:ext cx="76088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IN" altLang="en-US" sz="2000" b="1" dirty="0">
                <a:latin typeface="Times New Roman" panose="02020603050405020304" pitchFamily="18" charset="0"/>
                <a:cs typeface="Times New Roman" panose="02020603050405020304" pitchFamily="18" charset="0"/>
              </a:rPr>
              <a:t>SCHOOL OF ENGINEERING AND TECHNOLOGY</a:t>
            </a:r>
          </a:p>
        </p:txBody>
      </p:sp>
      <p:sp>
        <p:nvSpPr>
          <p:cNvPr id="11" name="TextBox 10">
            <a:extLst>
              <a:ext uri="{FF2B5EF4-FFF2-40B4-BE49-F238E27FC236}">
                <a16:creationId xmlns:a16="http://schemas.microsoft.com/office/drawing/2014/main" id="{65D029EA-243E-441F-A794-98CAFE54CF12}"/>
              </a:ext>
            </a:extLst>
          </p:cNvPr>
          <p:cNvSpPr txBox="1">
            <a:spLocks noChangeArrowheads="1"/>
          </p:cNvSpPr>
          <p:nvPr/>
        </p:nvSpPr>
        <p:spPr bwMode="auto">
          <a:xfrm>
            <a:off x="2650062" y="917004"/>
            <a:ext cx="62849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IN" altLang="en-US" sz="1600" b="1" dirty="0">
                <a:latin typeface="Times New Roman" panose="02020603050405020304" pitchFamily="18" charset="0"/>
                <a:cs typeface="Times New Roman" panose="02020603050405020304" pitchFamily="18" charset="0"/>
              </a:rPr>
              <a:t>DEPARTMENT OF COMPUTER SCIENCE AND ENGINEERING </a:t>
            </a:r>
          </a:p>
        </p:txBody>
      </p:sp>
      <p:sp>
        <p:nvSpPr>
          <p:cNvPr id="16" name="TextBox 4">
            <a:extLst>
              <a:ext uri="{FF2B5EF4-FFF2-40B4-BE49-F238E27FC236}">
                <a16:creationId xmlns:a16="http://schemas.microsoft.com/office/drawing/2014/main" id="{2BA18BEC-608E-4CD0-898B-16B67C397348}"/>
              </a:ext>
            </a:extLst>
          </p:cNvPr>
          <p:cNvSpPr txBox="1">
            <a:spLocks noChangeArrowheads="1"/>
          </p:cNvSpPr>
          <p:nvPr/>
        </p:nvSpPr>
        <p:spPr bwMode="auto">
          <a:xfrm>
            <a:off x="8074257" y="5184010"/>
            <a:ext cx="285273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1400" b="1" dirty="0">
                <a:latin typeface="Tahoma" panose="020B0604030504040204" pitchFamily="34" charset="0"/>
                <a:ea typeface="Tahoma" panose="020B0604030504040204" pitchFamily="34" charset="0"/>
                <a:cs typeface="Tahoma" panose="020B0604030504040204" pitchFamily="34" charset="0"/>
              </a:rPr>
              <a:t>Class teacher</a:t>
            </a:r>
          </a:p>
          <a:p>
            <a:pPr algn="ctr"/>
            <a:r>
              <a:rPr lang="en-US" altLang="en-US" sz="1400" b="1" dirty="0">
                <a:latin typeface="Tahoma" panose="020B0604030504040204" pitchFamily="34" charset="0"/>
                <a:ea typeface="Tahoma" panose="020B0604030504040204" pitchFamily="34" charset="0"/>
                <a:cs typeface="Tahoma" panose="020B0604030504040204" pitchFamily="34" charset="0"/>
              </a:rPr>
              <a:t>Mr. Sankar Patra</a:t>
            </a:r>
          </a:p>
          <a:p>
            <a:pPr algn="ctr"/>
            <a:r>
              <a:rPr lang="en-US" altLang="en-US" sz="1400" b="1" dirty="0">
                <a:latin typeface="Tahoma" panose="020B0604030504040204" pitchFamily="34" charset="0"/>
                <a:ea typeface="Tahoma" panose="020B0604030504040204" pitchFamily="34" charset="0"/>
                <a:cs typeface="Tahoma" panose="020B0604030504040204" pitchFamily="34" charset="0"/>
              </a:rPr>
              <a:t>Dept. Of CSE,</a:t>
            </a:r>
          </a:p>
          <a:p>
            <a:pPr algn="ctr"/>
            <a:r>
              <a:rPr lang="en-US" altLang="en-US" sz="1400" b="1" dirty="0">
                <a:latin typeface="Tahoma" panose="020B0604030504040204" pitchFamily="34" charset="0"/>
                <a:ea typeface="Tahoma" panose="020B0604030504040204" pitchFamily="34" charset="0"/>
                <a:cs typeface="Tahoma" panose="020B0604030504040204" pitchFamily="34" charset="0"/>
              </a:rPr>
              <a:t>GIET University , </a:t>
            </a:r>
            <a:r>
              <a:rPr lang="en-US" altLang="en-US" sz="1400" b="1" dirty="0" err="1">
                <a:latin typeface="Tahoma" panose="020B0604030504040204" pitchFamily="34" charset="0"/>
                <a:ea typeface="Tahoma" panose="020B0604030504040204" pitchFamily="34" charset="0"/>
                <a:cs typeface="Tahoma" panose="020B0604030504040204" pitchFamily="34" charset="0"/>
              </a:rPr>
              <a:t>Gunupur</a:t>
            </a:r>
            <a:endParaRPr lang="en-US" altLang="en-US" sz="14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25543045"/>
      </p:ext>
    </p:extLst>
  </p:cSld>
  <p:clrMapOvr>
    <a:masterClrMapping/>
  </p:clrMapOvr>
  <p:transition spd="slow">
    <p:pull dir="l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F57F0-F4A1-49EF-A60A-8660887779B7}"/>
              </a:ext>
            </a:extLst>
          </p:cNvPr>
          <p:cNvSpPr>
            <a:spLocks noGrp="1"/>
          </p:cNvSpPr>
          <p:nvPr>
            <p:ph type="title"/>
          </p:nvPr>
        </p:nvSpPr>
        <p:spPr/>
        <p:txBody>
          <a:bodyPr>
            <a:normAutofit/>
          </a:bodyPr>
          <a:lstStyle/>
          <a:p>
            <a:r>
              <a:rPr lang="en-US" sz="4800" b="1" dirty="0">
                <a:latin typeface="Algerian" panose="04020705040A02060702" pitchFamily="82" charset="0"/>
              </a:rPr>
              <a:t>OUTLINES</a:t>
            </a:r>
            <a:endParaRPr lang="en-IN" sz="4800" b="1" dirty="0">
              <a:latin typeface="Algerian" panose="04020705040A02060702" pitchFamily="82" charset="0"/>
            </a:endParaRPr>
          </a:p>
        </p:txBody>
      </p:sp>
      <p:graphicFrame>
        <p:nvGraphicFramePr>
          <p:cNvPr id="4" name="Table 4">
            <a:extLst>
              <a:ext uri="{FF2B5EF4-FFF2-40B4-BE49-F238E27FC236}">
                <a16:creationId xmlns:a16="http://schemas.microsoft.com/office/drawing/2014/main" id="{6F46866B-169D-4AE8-AE00-AA6034181853}"/>
              </a:ext>
            </a:extLst>
          </p:cNvPr>
          <p:cNvGraphicFramePr>
            <a:graphicFrameLocks noGrp="1"/>
          </p:cNvGraphicFramePr>
          <p:nvPr>
            <p:ph idx="1"/>
          </p:nvPr>
        </p:nvGraphicFramePr>
        <p:xfrm>
          <a:off x="1145217" y="1527847"/>
          <a:ext cx="8128785" cy="4053840"/>
        </p:xfrm>
        <a:graphic>
          <a:graphicData uri="http://schemas.openxmlformats.org/drawingml/2006/table">
            <a:tbl>
              <a:tblPr firstRow="1" bandRow="1">
                <a:tableStyleId>{5C22544A-7EE6-4342-B048-85BDC9FD1C3A}</a:tableStyleId>
              </a:tblPr>
              <a:tblGrid>
                <a:gridCol w="2709595">
                  <a:extLst>
                    <a:ext uri="{9D8B030D-6E8A-4147-A177-3AD203B41FA5}">
                      <a16:colId xmlns:a16="http://schemas.microsoft.com/office/drawing/2014/main" val="571003690"/>
                    </a:ext>
                  </a:extLst>
                </a:gridCol>
                <a:gridCol w="2709595">
                  <a:extLst>
                    <a:ext uri="{9D8B030D-6E8A-4147-A177-3AD203B41FA5}">
                      <a16:colId xmlns:a16="http://schemas.microsoft.com/office/drawing/2014/main" val="4176926602"/>
                    </a:ext>
                  </a:extLst>
                </a:gridCol>
                <a:gridCol w="2709595">
                  <a:extLst>
                    <a:ext uri="{9D8B030D-6E8A-4147-A177-3AD203B41FA5}">
                      <a16:colId xmlns:a16="http://schemas.microsoft.com/office/drawing/2014/main" val="2796141490"/>
                    </a:ext>
                  </a:extLst>
                </a:gridCol>
              </a:tblGrid>
              <a:tr h="341732">
                <a:tc>
                  <a:txBody>
                    <a:bodyPr/>
                    <a:lstStyle/>
                    <a:p>
                      <a:pPr algn="ct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S.NO.</a:t>
                      </a: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800" b="1" kern="1200" dirty="0">
                          <a:solidFill>
                            <a:schemeClr val="tx1">
                              <a:lumMod val="95000"/>
                              <a:lumOff val="5000"/>
                            </a:schemeClr>
                          </a:solidFill>
                          <a:latin typeface="Times New Roman" panose="02020603050405020304" pitchFamily="18" charset="0"/>
                          <a:ea typeface="+mn-ea"/>
                          <a:cs typeface="Times New Roman" panose="02020603050405020304" pitchFamily="18" charset="0"/>
                        </a:rPr>
                        <a:t>CONTENTS</a:t>
                      </a:r>
                      <a:endParaRPr lang="en-IN" sz="1800" b="1" kern="1200" dirty="0">
                        <a:solidFill>
                          <a:schemeClr val="tx1">
                            <a:lumMod val="95000"/>
                            <a:lumOff val="5000"/>
                          </a:schemeClr>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US" sz="1800" b="1" kern="1200" dirty="0">
                          <a:solidFill>
                            <a:schemeClr val="tx1">
                              <a:lumMod val="95000"/>
                              <a:lumOff val="5000"/>
                            </a:schemeClr>
                          </a:solidFill>
                          <a:latin typeface="Times New Roman" panose="02020603050405020304" pitchFamily="18" charset="0"/>
                          <a:ea typeface="+mn-ea"/>
                          <a:cs typeface="Times New Roman" panose="02020603050405020304" pitchFamily="18" charset="0"/>
                        </a:rPr>
                        <a:t>SLIDE NO.</a:t>
                      </a:r>
                      <a:endParaRPr lang="en-IN" sz="1800" b="1" kern="1200" dirty="0">
                        <a:solidFill>
                          <a:schemeClr val="tx1">
                            <a:lumMod val="95000"/>
                            <a:lumOff val="5000"/>
                          </a:schemeClr>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325165013"/>
                  </a:ext>
                </a:extLst>
              </a:tr>
              <a:tr h="326802">
                <a:tc>
                  <a:txBody>
                    <a:bodyPr/>
                    <a:lstStyle/>
                    <a:p>
                      <a:pPr algn="ctr"/>
                      <a:r>
                        <a:rPr lang="en-US" sz="1600" b="1" dirty="0">
                          <a:latin typeface="Times New Roman" panose="02020603050405020304" pitchFamily="18" charset="0"/>
                          <a:cs typeface="Times New Roman" panose="02020603050405020304" pitchFamily="18" charset="0"/>
                        </a:rPr>
                        <a:t>1</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PROBLEM STATEMENT</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IN" sz="1600" b="1" kern="1200" dirty="0">
                          <a:solidFill>
                            <a:schemeClr val="dk1"/>
                          </a:solidFill>
                          <a:latin typeface="Times New Roman" panose="02020603050405020304" pitchFamily="18" charset="0"/>
                          <a:ea typeface="+mn-ea"/>
                          <a:cs typeface="Times New Roman" panose="02020603050405020304" pitchFamily="18" charset="0"/>
                        </a:rPr>
                        <a:t>3</a:t>
                      </a:r>
                    </a:p>
                  </a:txBody>
                  <a:tcPr/>
                </a:tc>
                <a:extLst>
                  <a:ext uri="{0D108BD9-81ED-4DB2-BD59-A6C34878D82A}">
                    <a16:rowId xmlns:a16="http://schemas.microsoft.com/office/drawing/2014/main" val="3888246721"/>
                  </a:ext>
                </a:extLst>
              </a:tr>
              <a:tr h="326802">
                <a:tc>
                  <a:txBody>
                    <a:bodyPr/>
                    <a:lstStyle/>
                    <a:p>
                      <a:pPr algn="ctr"/>
                      <a:r>
                        <a:rPr lang="en-US" sz="1600" b="1" dirty="0">
                          <a:latin typeface="Times New Roman" panose="02020603050405020304" pitchFamily="18" charset="0"/>
                          <a:cs typeface="Times New Roman" panose="02020603050405020304" pitchFamily="18" charset="0"/>
                        </a:rPr>
                        <a:t>2</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INTRODUCTION</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IN" sz="1600" b="1" kern="1200" dirty="0">
                          <a:solidFill>
                            <a:schemeClr val="dk1"/>
                          </a:solidFill>
                          <a:latin typeface="Times New Roman" panose="02020603050405020304" pitchFamily="18" charset="0"/>
                          <a:ea typeface="+mn-ea"/>
                          <a:cs typeface="Times New Roman" panose="02020603050405020304" pitchFamily="18" charset="0"/>
                        </a:rPr>
                        <a:t>4</a:t>
                      </a:r>
                    </a:p>
                  </a:txBody>
                  <a:tcPr/>
                </a:tc>
                <a:extLst>
                  <a:ext uri="{0D108BD9-81ED-4DB2-BD59-A6C34878D82A}">
                    <a16:rowId xmlns:a16="http://schemas.microsoft.com/office/drawing/2014/main" val="3667850610"/>
                  </a:ext>
                </a:extLst>
              </a:tr>
              <a:tr h="326802">
                <a:tc>
                  <a:txBody>
                    <a:bodyPr/>
                    <a:lstStyle/>
                    <a:p>
                      <a:pPr algn="ctr"/>
                      <a:r>
                        <a:rPr lang="en-US" sz="1600" b="1" dirty="0">
                          <a:latin typeface="Times New Roman" panose="02020603050405020304" pitchFamily="18" charset="0"/>
                          <a:cs typeface="Times New Roman" panose="02020603050405020304" pitchFamily="18" charset="0"/>
                        </a:rPr>
                        <a:t>3</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TECHNOLOGIES USED</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IN" sz="1600" b="1" kern="1200" dirty="0">
                          <a:solidFill>
                            <a:schemeClr val="dk1"/>
                          </a:solidFill>
                          <a:latin typeface="Times New Roman" panose="02020603050405020304" pitchFamily="18" charset="0"/>
                          <a:ea typeface="+mn-ea"/>
                          <a:cs typeface="Times New Roman" panose="02020603050405020304" pitchFamily="18" charset="0"/>
                        </a:rPr>
                        <a:t>5</a:t>
                      </a:r>
                    </a:p>
                  </a:txBody>
                  <a:tcPr/>
                </a:tc>
                <a:extLst>
                  <a:ext uri="{0D108BD9-81ED-4DB2-BD59-A6C34878D82A}">
                    <a16:rowId xmlns:a16="http://schemas.microsoft.com/office/drawing/2014/main" val="2634397066"/>
                  </a:ext>
                </a:extLst>
              </a:tr>
              <a:tr h="326802">
                <a:tc>
                  <a:txBody>
                    <a:bodyPr/>
                    <a:lstStyle/>
                    <a:p>
                      <a:pPr algn="ctr"/>
                      <a:r>
                        <a:rPr lang="en-US" sz="1600" b="1" dirty="0">
                          <a:latin typeface="Times New Roman" panose="02020603050405020304" pitchFamily="18" charset="0"/>
                          <a:cs typeface="Times New Roman" panose="02020603050405020304" pitchFamily="18" charset="0"/>
                        </a:rPr>
                        <a:t>4</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NECESSARY DIAGRAMS</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IN" sz="1600" b="1" kern="1200" dirty="0">
                          <a:solidFill>
                            <a:schemeClr val="dk1"/>
                          </a:solidFill>
                          <a:latin typeface="Times New Roman" panose="02020603050405020304" pitchFamily="18" charset="0"/>
                          <a:ea typeface="+mn-ea"/>
                          <a:cs typeface="Times New Roman" panose="02020603050405020304" pitchFamily="18" charset="0"/>
                        </a:rPr>
                        <a:t>6-7</a:t>
                      </a:r>
                    </a:p>
                  </a:txBody>
                  <a:tcPr/>
                </a:tc>
                <a:extLst>
                  <a:ext uri="{0D108BD9-81ED-4DB2-BD59-A6C34878D82A}">
                    <a16:rowId xmlns:a16="http://schemas.microsoft.com/office/drawing/2014/main" val="2412063818"/>
                  </a:ext>
                </a:extLst>
              </a:tr>
              <a:tr h="326802">
                <a:tc>
                  <a:txBody>
                    <a:bodyPr/>
                    <a:lstStyle/>
                    <a:p>
                      <a:pPr algn="ctr"/>
                      <a:r>
                        <a:rPr lang="en-US" sz="1600" b="1" dirty="0">
                          <a:latin typeface="Times New Roman" panose="02020603050405020304" pitchFamily="18" charset="0"/>
                          <a:cs typeface="Times New Roman" panose="02020603050405020304" pitchFamily="18" charset="0"/>
                        </a:rPr>
                        <a:t>5</a:t>
                      </a:r>
                      <a:endParaRPr lang="en-IN" sz="1600" b="1">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FEATURES</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IN" sz="1600" b="1" kern="1200" dirty="0">
                          <a:solidFill>
                            <a:schemeClr val="dk1"/>
                          </a:solidFill>
                          <a:latin typeface="Times New Roman" panose="02020603050405020304" pitchFamily="18" charset="0"/>
                          <a:ea typeface="+mn-ea"/>
                          <a:cs typeface="Times New Roman" panose="02020603050405020304" pitchFamily="18" charset="0"/>
                        </a:rPr>
                        <a:t>8</a:t>
                      </a:r>
                    </a:p>
                  </a:txBody>
                  <a:tcPr/>
                </a:tc>
                <a:extLst>
                  <a:ext uri="{0D108BD9-81ED-4DB2-BD59-A6C34878D82A}">
                    <a16:rowId xmlns:a16="http://schemas.microsoft.com/office/drawing/2014/main" val="1992139182"/>
                  </a:ext>
                </a:extLst>
              </a:tr>
              <a:tr h="326802">
                <a:tc>
                  <a:txBody>
                    <a:bodyPr/>
                    <a:lstStyle/>
                    <a:p>
                      <a:pPr algn="ctr"/>
                      <a:r>
                        <a:rPr lang="en-US" sz="1600" b="1" dirty="0">
                          <a:latin typeface="Times New Roman" panose="02020603050405020304" pitchFamily="18" charset="0"/>
                          <a:cs typeface="Times New Roman" panose="02020603050405020304" pitchFamily="18" charset="0"/>
                        </a:rPr>
                        <a:t>6</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CHALLENGES</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IN" sz="1600" b="1" kern="1200" dirty="0">
                          <a:solidFill>
                            <a:schemeClr val="dk1"/>
                          </a:solidFill>
                          <a:latin typeface="Times New Roman" panose="02020603050405020304" pitchFamily="18" charset="0"/>
                          <a:ea typeface="+mn-ea"/>
                          <a:cs typeface="Times New Roman" panose="02020603050405020304" pitchFamily="18" charset="0"/>
                        </a:rPr>
                        <a:t>9</a:t>
                      </a:r>
                    </a:p>
                  </a:txBody>
                  <a:tcPr/>
                </a:tc>
                <a:extLst>
                  <a:ext uri="{0D108BD9-81ED-4DB2-BD59-A6C34878D82A}">
                    <a16:rowId xmlns:a16="http://schemas.microsoft.com/office/drawing/2014/main" val="1256259614"/>
                  </a:ext>
                </a:extLst>
              </a:tr>
              <a:tr h="326802">
                <a:tc>
                  <a:txBody>
                    <a:bodyPr/>
                    <a:lstStyle/>
                    <a:p>
                      <a:pPr algn="ctr"/>
                      <a:r>
                        <a:rPr lang="en-US" sz="1600" b="1" dirty="0">
                          <a:latin typeface="Times New Roman" panose="02020603050405020304" pitchFamily="18" charset="0"/>
                          <a:cs typeface="Times New Roman" panose="02020603050405020304" pitchFamily="18" charset="0"/>
                        </a:rPr>
                        <a:t>7</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LIMITATIONS</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IN" sz="1600" b="1" kern="1200" dirty="0">
                          <a:solidFill>
                            <a:schemeClr val="dk1"/>
                          </a:solidFill>
                          <a:latin typeface="Times New Roman" panose="02020603050405020304" pitchFamily="18" charset="0"/>
                          <a:ea typeface="+mn-ea"/>
                          <a:cs typeface="Times New Roman" panose="02020603050405020304" pitchFamily="18" charset="0"/>
                        </a:rPr>
                        <a:t>10</a:t>
                      </a:r>
                    </a:p>
                  </a:txBody>
                  <a:tcPr/>
                </a:tc>
                <a:extLst>
                  <a:ext uri="{0D108BD9-81ED-4DB2-BD59-A6C34878D82A}">
                    <a16:rowId xmlns:a16="http://schemas.microsoft.com/office/drawing/2014/main" val="832582665"/>
                  </a:ext>
                </a:extLst>
              </a:tr>
              <a:tr h="326802">
                <a:tc>
                  <a:txBody>
                    <a:bodyPr/>
                    <a:lstStyle/>
                    <a:p>
                      <a:pPr algn="ctr"/>
                      <a:r>
                        <a:rPr lang="en-US" sz="1600" b="1" dirty="0">
                          <a:latin typeface="Times New Roman" panose="02020603050405020304" pitchFamily="18" charset="0"/>
                          <a:cs typeface="Times New Roman" panose="02020603050405020304" pitchFamily="18" charset="0"/>
                        </a:rPr>
                        <a:t>8</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SCREENSHOTS</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IN" sz="1600" b="1" kern="1200" dirty="0">
                          <a:solidFill>
                            <a:schemeClr val="dk1"/>
                          </a:solidFill>
                          <a:latin typeface="Times New Roman" panose="02020603050405020304" pitchFamily="18" charset="0"/>
                          <a:ea typeface="+mn-ea"/>
                          <a:cs typeface="Times New Roman" panose="02020603050405020304" pitchFamily="18" charset="0"/>
                        </a:rPr>
                        <a:t>11-14</a:t>
                      </a:r>
                    </a:p>
                  </a:txBody>
                  <a:tcPr/>
                </a:tc>
                <a:extLst>
                  <a:ext uri="{0D108BD9-81ED-4DB2-BD59-A6C34878D82A}">
                    <a16:rowId xmlns:a16="http://schemas.microsoft.com/office/drawing/2014/main" val="2174425801"/>
                  </a:ext>
                </a:extLst>
              </a:tr>
              <a:tr h="326802">
                <a:tc>
                  <a:txBody>
                    <a:bodyPr/>
                    <a:lstStyle/>
                    <a:p>
                      <a:pPr algn="ctr"/>
                      <a:r>
                        <a:rPr lang="en-US" sz="1600" b="1" dirty="0">
                          <a:latin typeface="Times New Roman" panose="02020603050405020304" pitchFamily="18" charset="0"/>
                          <a:cs typeface="Times New Roman" panose="02020603050405020304" pitchFamily="18" charset="0"/>
                        </a:rPr>
                        <a:t>9</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CONCLUSION</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IN" sz="1600" b="1" kern="1200" dirty="0">
                          <a:solidFill>
                            <a:schemeClr val="dk1"/>
                          </a:solidFill>
                          <a:latin typeface="Times New Roman" panose="02020603050405020304" pitchFamily="18" charset="0"/>
                          <a:ea typeface="+mn-ea"/>
                          <a:cs typeface="Times New Roman" panose="02020603050405020304" pitchFamily="18" charset="0"/>
                        </a:rPr>
                        <a:t>15</a:t>
                      </a:r>
                    </a:p>
                  </a:txBody>
                  <a:tcPr/>
                </a:tc>
                <a:extLst>
                  <a:ext uri="{0D108BD9-81ED-4DB2-BD59-A6C34878D82A}">
                    <a16:rowId xmlns:a16="http://schemas.microsoft.com/office/drawing/2014/main" val="1500900086"/>
                  </a:ext>
                </a:extLst>
              </a:tr>
              <a:tr h="326802">
                <a:tc>
                  <a:txBody>
                    <a:bodyPr/>
                    <a:lstStyle/>
                    <a:p>
                      <a:pPr algn="ctr"/>
                      <a:r>
                        <a:rPr lang="en-US" sz="1600" b="1" dirty="0">
                          <a:latin typeface="Times New Roman" panose="02020603050405020304" pitchFamily="18" charset="0"/>
                          <a:cs typeface="Times New Roman" panose="02020603050405020304" pitchFamily="18" charset="0"/>
                        </a:rPr>
                        <a:t>10</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FUTURE ENHANCEMENT</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IN" sz="1600" b="1" kern="1200" dirty="0">
                          <a:solidFill>
                            <a:schemeClr val="dk1"/>
                          </a:solidFill>
                          <a:latin typeface="Times New Roman" panose="02020603050405020304" pitchFamily="18" charset="0"/>
                          <a:ea typeface="+mn-ea"/>
                          <a:cs typeface="Times New Roman" panose="02020603050405020304" pitchFamily="18" charset="0"/>
                        </a:rPr>
                        <a:t>16</a:t>
                      </a:r>
                    </a:p>
                  </a:txBody>
                  <a:tcPr/>
                </a:tc>
                <a:extLst>
                  <a:ext uri="{0D108BD9-81ED-4DB2-BD59-A6C34878D82A}">
                    <a16:rowId xmlns:a16="http://schemas.microsoft.com/office/drawing/2014/main" val="2415717400"/>
                  </a:ext>
                </a:extLst>
              </a:tr>
              <a:tr h="329838">
                <a:tc>
                  <a:txBody>
                    <a:bodyPr/>
                    <a:lstStyle/>
                    <a:p>
                      <a:pPr algn="ctr"/>
                      <a:r>
                        <a:rPr lang="en-US" sz="1600" b="1" dirty="0">
                          <a:latin typeface="Times New Roman" panose="02020603050405020304" pitchFamily="18" charset="0"/>
                          <a:cs typeface="Times New Roman" panose="02020603050405020304" pitchFamily="18" charset="0"/>
                        </a:rPr>
                        <a:t>11</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algn="ctr" defTabSz="457200" rtl="0" eaLnBrk="1" latinLnBrk="0" hangingPunct="1"/>
                      <a:r>
                        <a:rPr lang="en-US" sz="1600" b="1" kern="1200" dirty="0">
                          <a:solidFill>
                            <a:schemeClr val="dk1"/>
                          </a:solidFill>
                          <a:latin typeface="Times New Roman" panose="02020603050405020304" pitchFamily="18" charset="0"/>
                          <a:ea typeface="+mn-ea"/>
                          <a:cs typeface="Times New Roman" panose="02020603050405020304" pitchFamily="18" charset="0"/>
                        </a:rPr>
                        <a:t>REFERENCES</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IN" sz="1600" b="1" kern="1200" dirty="0">
                          <a:solidFill>
                            <a:schemeClr val="dk1"/>
                          </a:solidFill>
                          <a:latin typeface="Times New Roman" panose="02020603050405020304" pitchFamily="18" charset="0"/>
                          <a:ea typeface="+mn-ea"/>
                          <a:cs typeface="Times New Roman" panose="02020603050405020304" pitchFamily="18" charset="0"/>
                        </a:rPr>
                        <a:t>17</a:t>
                      </a:r>
                    </a:p>
                  </a:txBody>
                  <a:tcPr/>
                </a:tc>
                <a:extLst>
                  <a:ext uri="{0D108BD9-81ED-4DB2-BD59-A6C34878D82A}">
                    <a16:rowId xmlns:a16="http://schemas.microsoft.com/office/drawing/2014/main" val="3131175044"/>
                  </a:ext>
                </a:extLst>
              </a:tr>
            </a:tbl>
          </a:graphicData>
        </a:graphic>
      </p:graphicFrame>
      <p:sp>
        <p:nvSpPr>
          <p:cNvPr id="5" name="Slide Number Placeholder 4">
            <a:extLst>
              <a:ext uri="{FF2B5EF4-FFF2-40B4-BE49-F238E27FC236}">
                <a16:creationId xmlns:a16="http://schemas.microsoft.com/office/drawing/2014/main" id="{96008784-1D72-3AA0-AE2E-6480A2A2A093}"/>
              </a:ext>
            </a:extLst>
          </p:cNvPr>
          <p:cNvSpPr>
            <a:spLocks noGrp="1"/>
          </p:cNvSpPr>
          <p:nvPr>
            <p:ph type="sldNum" sz="quarter" idx="12"/>
          </p:nvPr>
        </p:nvSpPr>
        <p:spPr/>
        <p:txBody>
          <a:bodyPr/>
          <a:lstStyle/>
          <a:p>
            <a:fld id="{8C30E469-CD0D-498B-8DDB-D7B03AB8677D}" type="slidenum">
              <a:rPr lang="en-IN" smtClean="0"/>
              <a:t>2</a:t>
            </a:fld>
            <a:endParaRPr lang="en-IN"/>
          </a:p>
        </p:txBody>
      </p:sp>
    </p:spTree>
    <p:extLst>
      <p:ext uri="{BB962C8B-B14F-4D97-AF65-F5344CB8AC3E}">
        <p14:creationId xmlns:p14="http://schemas.microsoft.com/office/powerpoint/2010/main" val="705698012"/>
      </p:ext>
    </p:extLst>
  </p:cSld>
  <p:clrMapOvr>
    <a:masterClrMapping/>
  </p:clrMapOvr>
  <p:transition spd="slow">
    <p:pull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FF27D-9C3D-CD52-356F-B18A4A1E094B}"/>
              </a:ext>
            </a:extLst>
          </p:cNvPr>
          <p:cNvSpPr>
            <a:spLocks noGrp="1"/>
          </p:cNvSpPr>
          <p:nvPr>
            <p:ph type="title"/>
          </p:nvPr>
        </p:nvSpPr>
        <p:spPr>
          <a:xfrm>
            <a:off x="677334" y="609600"/>
            <a:ext cx="8596668" cy="914400"/>
          </a:xfrm>
        </p:spPr>
        <p:txBody>
          <a:bodyPr>
            <a:normAutofit/>
          </a:bodyPr>
          <a:lstStyle/>
          <a:p>
            <a:r>
              <a:rPr lang="en-IN" sz="4400" b="1" u="sng" dirty="0">
                <a:latin typeface="Algerian" panose="04020705040A02060702" pitchFamily="82" charset="0"/>
              </a:rPr>
              <a:t>PROBLEM STATEMENT</a:t>
            </a:r>
          </a:p>
        </p:txBody>
      </p:sp>
      <p:sp>
        <p:nvSpPr>
          <p:cNvPr id="3" name="Content Placeholder 2">
            <a:extLst>
              <a:ext uri="{FF2B5EF4-FFF2-40B4-BE49-F238E27FC236}">
                <a16:creationId xmlns:a16="http://schemas.microsoft.com/office/drawing/2014/main" id="{0A5A9008-D850-04F5-8700-C871C6826E3C}"/>
              </a:ext>
            </a:extLst>
          </p:cNvPr>
          <p:cNvSpPr>
            <a:spLocks noGrp="1"/>
          </p:cNvSpPr>
          <p:nvPr>
            <p:ph idx="1"/>
          </p:nvPr>
        </p:nvSpPr>
        <p:spPr>
          <a:xfrm>
            <a:off x="677334" y="1816460"/>
            <a:ext cx="8596668" cy="3880773"/>
          </a:xfrm>
        </p:spPr>
        <p:txBody>
          <a:bodyPr/>
          <a:lstStyle/>
          <a:p>
            <a:pPr algn="just">
              <a:buFont typeface="Wingdings" panose="05000000000000000000" pitchFamily="2" charset="2"/>
              <a:buChar char="Ø"/>
            </a:pPr>
            <a:r>
              <a:rPr lang="en-US" dirty="0"/>
              <a:t>Job aspirants lack access to personalized and structured interview preparation.</a:t>
            </a:r>
          </a:p>
          <a:p>
            <a:pPr algn="just">
              <a:buFont typeface="Wingdings" panose="05000000000000000000" pitchFamily="2" charset="2"/>
              <a:buChar char="Ø"/>
            </a:pPr>
            <a:r>
              <a:rPr lang="en-US" dirty="0"/>
              <a:t>Existing interview preparation methods do not analyze resumes to tailor questions.</a:t>
            </a:r>
          </a:p>
          <a:p>
            <a:pPr algn="just">
              <a:buFont typeface="Wingdings" panose="05000000000000000000" pitchFamily="2" charset="2"/>
              <a:buChar char="Ø"/>
            </a:pPr>
            <a:r>
              <a:rPr lang="en-US" dirty="0"/>
              <a:t>Candidates do not get company-specific and interview-type-based practice.</a:t>
            </a:r>
          </a:p>
          <a:p>
            <a:pPr algn="just">
              <a:buFont typeface="Wingdings" panose="05000000000000000000" pitchFamily="2" charset="2"/>
              <a:buChar char="Ø"/>
            </a:pPr>
            <a:r>
              <a:rPr lang="en-US" dirty="0"/>
              <a:t>Manual interview feedback is time-consuming and often unavailable.</a:t>
            </a:r>
          </a:p>
          <a:p>
            <a:pPr algn="just">
              <a:buFont typeface="Wingdings" panose="05000000000000000000" pitchFamily="2" charset="2"/>
              <a:buChar char="Ø"/>
            </a:pPr>
            <a:r>
              <a:rPr lang="en-US" dirty="0"/>
              <a:t>There is no automated system to evaluate answers and provide instant feedback.</a:t>
            </a:r>
          </a:p>
          <a:p>
            <a:pPr algn="just">
              <a:buFont typeface="Wingdings" panose="05000000000000000000" pitchFamily="2" charset="2"/>
              <a:buChar char="Ø"/>
            </a:pPr>
            <a:r>
              <a:rPr lang="en-US" dirty="0"/>
              <a:t>Users cannot effectively track interview performance and progress over time.</a:t>
            </a:r>
          </a:p>
          <a:p>
            <a:pPr algn="just">
              <a:buFont typeface="Wingdings" panose="05000000000000000000" pitchFamily="2" charset="2"/>
              <a:buChar char="Ø"/>
            </a:pPr>
            <a:r>
              <a:rPr lang="en-US" dirty="0"/>
              <a:t>The absence of an integrated AI-driven platform makes interview preparation inefficient.</a:t>
            </a:r>
            <a:endParaRPr lang="en-IN" dirty="0"/>
          </a:p>
        </p:txBody>
      </p:sp>
    </p:spTree>
    <p:extLst>
      <p:ext uri="{BB962C8B-B14F-4D97-AF65-F5344CB8AC3E}">
        <p14:creationId xmlns:p14="http://schemas.microsoft.com/office/powerpoint/2010/main" val="2849898947"/>
      </p:ext>
    </p:extLst>
  </p:cSld>
  <p:clrMapOvr>
    <a:masterClrMapping/>
  </p:clrMapOvr>
  <p:transition spd="slow">
    <p:pull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u="sng" dirty="0">
                <a:latin typeface="Algerian" panose="04020705040A02060702" pitchFamily="82" charset="0"/>
              </a:rPr>
              <a:t>INTRODUCTION</a:t>
            </a:r>
            <a:endParaRPr lang="en-US" b="1" u="sng" dirty="0">
              <a:latin typeface="Algerian" panose="04020705040A02060702" pitchFamily="82" charset="0"/>
            </a:endParaRPr>
          </a:p>
        </p:txBody>
      </p:sp>
      <p:sp>
        <p:nvSpPr>
          <p:cNvPr id="3" name="Content Placeholder 2"/>
          <p:cNvSpPr>
            <a:spLocks noGrp="1"/>
          </p:cNvSpPr>
          <p:nvPr>
            <p:ph idx="1"/>
          </p:nvPr>
        </p:nvSpPr>
        <p:spPr>
          <a:xfrm>
            <a:off x="677334" y="1270000"/>
            <a:ext cx="8132370" cy="5240592"/>
          </a:xfrm>
        </p:spPr>
        <p:txBody>
          <a:bodyPr vert="horz" lIns="91440" tIns="45720" rIns="91440" bIns="45720" rtlCol="0" anchor="t">
            <a:normAutofit/>
          </a:bodyPr>
          <a:lstStyle/>
          <a:p>
            <a:pPr marL="0" indent="0" algn="just">
              <a:buNone/>
            </a:pPr>
            <a:endParaRPr lang="en-US" sz="2000" dirty="0"/>
          </a:p>
          <a:p>
            <a:pPr marL="0" indent="0" algn="just">
              <a:lnSpc>
                <a:spcPct val="110000"/>
              </a:lnSpc>
              <a:buSzPct val="102000"/>
              <a:buNone/>
            </a:pPr>
            <a:r>
              <a:rPr lang="en-US" sz="2000" dirty="0">
                <a:ea typeface="+mn-lt"/>
                <a:cs typeface="+mn-lt"/>
              </a:rPr>
              <a:t>Hirable AI – An Interview Trainer is an intelligent platform designed to help job aspirants prepare effectively for interviews. The system focuses on improving confidence, communication, and interview performance through AI-based mock interviews. It consists of three main interfaces: Home Page, Mock Interview Page, and Dashboard. The Home Page allows users to upload their resumes for personalized preparation. The Mock Interview Page enables users to select a company and interview type. The Dashboard tracks performance and progress, helping users identify strengths and areas for improvement.</a:t>
            </a:r>
            <a:endParaRPr lang="en-US" sz="4400" dirty="0">
              <a:latin typeface="Times New Roman"/>
              <a:cs typeface="Times New Roman"/>
            </a:endParaRPr>
          </a:p>
          <a:p>
            <a:pPr marL="0" indent="0" algn="just">
              <a:buNone/>
            </a:pPr>
            <a:endParaRPr lang="en-US" sz="4400" dirty="0">
              <a:latin typeface="Times New Roman"/>
              <a:cs typeface="Times New Roman"/>
            </a:endParaRPr>
          </a:p>
          <a:p>
            <a:endParaRPr lang="en-US" dirty="0"/>
          </a:p>
          <a:p>
            <a:pPr marL="0" indent="0">
              <a:buNone/>
            </a:pPr>
            <a:r>
              <a:rPr lang="en-US" dirty="0"/>
              <a:t>		</a:t>
            </a:r>
          </a:p>
        </p:txBody>
      </p:sp>
    </p:spTree>
  </p:cSld>
  <p:clrMapOvr>
    <a:masterClrMapping/>
  </p:clrMapOvr>
  <p:transition spd="slow">
    <p:pull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b="1" u="sng" dirty="0">
                <a:latin typeface="Algerian" panose="04020705040A02060702" pitchFamily="82" charset="0"/>
              </a:rPr>
              <a:t>TECHNOLOGIES USED</a:t>
            </a:r>
            <a:endParaRPr sz="4400" b="1" u="sng" dirty="0">
              <a:latin typeface="Algerian" panose="04020705040A02060702" pitchFamily="82" charset="0"/>
            </a:endParaRPr>
          </a:p>
        </p:txBody>
      </p:sp>
      <p:sp>
        <p:nvSpPr>
          <p:cNvPr id="3" name="Content Placeholder 2"/>
          <p:cNvSpPr>
            <a:spLocks noGrp="1"/>
          </p:cNvSpPr>
          <p:nvPr>
            <p:ph idx="1"/>
          </p:nvPr>
        </p:nvSpPr>
        <p:spPr>
          <a:xfrm>
            <a:off x="677334" y="1930400"/>
            <a:ext cx="8677654" cy="4890052"/>
          </a:xfrm>
        </p:spPr>
        <p:txBody>
          <a:bodyPr vert="horz" lIns="91440" tIns="45720" rIns="91440" bIns="45720" rtlCol="0" anchor="t">
            <a:normAutofit/>
          </a:bodyPr>
          <a:lstStyle/>
          <a:p>
            <a:pPr algn="just">
              <a:buFont typeface="Wingdings" panose="05000000000000000000" pitchFamily="2" charset="2"/>
              <a:buChar char="Ø"/>
            </a:pPr>
            <a:r>
              <a:rPr lang="en-IN" dirty="0"/>
              <a:t>Frontend (Browser): HTML, CSS, JavaScript</a:t>
            </a:r>
          </a:p>
          <a:p>
            <a:pPr algn="just">
              <a:buFont typeface="Wingdings" panose="05000000000000000000" pitchFamily="2" charset="2"/>
              <a:buChar char="Ø"/>
            </a:pPr>
            <a:r>
              <a:rPr lang="en-IN" dirty="0" err="1"/>
              <a:t>FastAPI</a:t>
            </a:r>
            <a:r>
              <a:rPr lang="en-IN" dirty="0"/>
              <a:t>: Resume upload, question generation, answer evaluation</a:t>
            </a:r>
          </a:p>
          <a:p>
            <a:pPr algn="just">
              <a:buFont typeface="Wingdings" panose="05000000000000000000" pitchFamily="2" charset="2"/>
              <a:buChar char="Ø"/>
            </a:pPr>
            <a:r>
              <a:rPr lang="en-IN" dirty="0"/>
              <a:t>Resume Parser &amp; Chunking Engine: Resume analysis</a:t>
            </a:r>
          </a:p>
          <a:p>
            <a:pPr algn="just">
              <a:buFont typeface="Wingdings" panose="05000000000000000000" pitchFamily="2" charset="2"/>
              <a:buChar char="Ø"/>
            </a:pPr>
            <a:r>
              <a:rPr lang="en-IN" dirty="0"/>
              <a:t>Embedding Model API: Text-to-vector conversion</a:t>
            </a:r>
          </a:p>
          <a:p>
            <a:pPr algn="just">
              <a:buFont typeface="Wingdings" panose="05000000000000000000" pitchFamily="2" charset="2"/>
              <a:buChar char="Ø"/>
            </a:pPr>
            <a:r>
              <a:rPr lang="en-IN" dirty="0"/>
              <a:t>LLM Service: Question generation and answer evaluation</a:t>
            </a:r>
          </a:p>
          <a:p>
            <a:pPr algn="just">
              <a:buFont typeface="Wingdings" panose="05000000000000000000" pitchFamily="2" charset="2"/>
              <a:buChar char="Ø"/>
            </a:pPr>
            <a:r>
              <a:rPr lang="en-IN" dirty="0"/>
              <a:t>Database: Stores answers, scores, and history.</a:t>
            </a:r>
            <a:endParaRPr dirty="0"/>
          </a:p>
        </p:txBody>
      </p:sp>
    </p:spTree>
  </p:cSld>
  <p:clrMapOvr>
    <a:masterClrMapping/>
  </p:clrMapOvr>
  <p:transition spd="slow">
    <p:pull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2111D-1958-6BD6-9D3B-0F98075CD171}"/>
              </a:ext>
            </a:extLst>
          </p:cNvPr>
          <p:cNvSpPr>
            <a:spLocks noGrp="1"/>
          </p:cNvSpPr>
          <p:nvPr>
            <p:ph type="title"/>
          </p:nvPr>
        </p:nvSpPr>
        <p:spPr>
          <a:xfrm>
            <a:off x="677334" y="609599"/>
            <a:ext cx="8596668" cy="953729"/>
          </a:xfrm>
        </p:spPr>
        <p:txBody>
          <a:bodyPr>
            <a:noAutofit/>
          </a:bodyPr>
          <a:lstStyle/>
          <a:p>
            <a:r>
              <a:rPr lang="en-IN" sz="4600" b="1" u="sng" dirty="0">
                <a:latin typeface="Algerian" panose="04020705040A02060702" pitchFamily="82" charset="0"/>
              </a:rPr>
              <a:t>FLOW CHART</a:t>
            </a:r>
          </a:p>
        </p:txBody>
      </p:sp>
      <p:sp>
        <p:nvSpPr>
          <p:cNvPr id="4" name="Slide Number Placeholder 3">
            <a:extLst>
              <a:ext uri="{FF2B5EF4-FFF2-40B4-BE49-F238E27FC236}">
                <a16:creationId xmlns:a16="http://schemas.microsoft.com/office/drawing/2014/main" id="{2A60774D-05C9-3B59-F412-6958162D6E0C}"/>
              </a:ext>
            </a:extLst>
          </p:cNvPr>
          <p:cNvSpPr>
            <a:spLocks noGrp="1"/>
          </p:cNvSpPr>
          <p:nvPr>
            <p:ph type="sldNum" sz="quarter" idx="12"/>
          </p:nvPr>
        </p:nvSpPr>
        <p:spPr/>
        <p:txBody>
          <a:bodyPr/>
          <a:lstStyle/>
          <a:p>
            <a:fld id="{8C30E469-CD0D-498B-8DDB-D7B03AB8677D}" type="slidenum">
              <a:rPr lang="en-IN" smtClean="0"/>
              <a:t>6</a:t>
            </a:fld>
            <a:endParaRPr lang="en-IN"/>
          </a:p>
        </p:txBody>
      </p:sp>
      <p:pic>
        <p:nvPicPr>
          <p:cNvPr id="8" name="Picture 7">
            <a:extLst>
              <a:ext uri="{FF2B5EF4-FFF2-40B4-BE49-F238E27FC236}">
                <a16:creationId xmlns:a16="http://schemas.microsoft.com/office/drawing/2014/main" id="{E1930312-E43A-AADD-B33F-D1F8992FA7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7998" y="1356852"/>
            <a:ext cx="4534854" cy="5397909"/>
          </a:xfrm>
          <a:prstGeom prst="rect">
            <a:avLst/>
          </a:prstGeom>
        </p:spPr>
      </p:pic>
    </p:spTree>
    <p:extLst>
      <p:ext uri="{BB962C8B-B14F-4D97-AF65-F5344CB8AC3E}">
        <p14:creationId xmlns:p14="http://schemas.microsoft.com/office/powerpoint/2010/main" val="46855347"/>
      </p:ext>
    </p:extLst>
  </p:cSld>
  <p:clrMapOvr>
    <a:masterClrMapping/>
  </p:clrMapOvr>
  <p:transition spd="slow">
    <p:pull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2BB45-8CC6-9E55-1FB7-42275ABA4766}"/>
              </a:ext>
            </a:extLst>
          </p:cNvPr>
          <p:cNvSpPr>
            <a:spLocks noGrp="1"/>
          </p:cNvSpPr>
          <p:nvPr>
            <p:ph type="title"/>
          </p:nvPr>
        </p:nvSpPr>
        <p:spPr>
          <a:xfrm>
            <a:off x="677334" y="609600"/>
            <a:ext cx="8596668" cy="825910"/>
          </a:xfrm>
        </p:spPr>
        <p:txBody>
          <a:bodyPr>
            <a:normAutofit/>
          </a:bodyPr>
          <a:lstStyle/>
          <a:p>
            <a:r>
              <a:rPr lang="en-IN" sz="4600" b="1" u="sng" dirty="0">
                <a:latin typeface="Algerian" panose="04020705040A02060702" pitchFamily="82" charset="0"/>
              </a:rPr>
              <a:t>ER DIAGRAM</a:t>
            </a:r>
          </a:p>
        </p:txBody>
      </p:sp>
      <p:sp>
        <p:nvSpPr>
          <p:cNvPr id="3" name="Slide Number Placeholder 2">
            <a:extLst>
              <a:ext uri="{FF2B5EF4-FFF2-40B4-BE49-F238E27FC236}">
                <a16:creationId xmlns:a16="http://schemas.microsoft.com/office/drawing/2014/main" id="{F2EB2DBE-A00D-E0CB-69BD-05148BC1495F}"/>
              </a:ext>
            </a:extLst>
          </p:cNvPr>
          <p:cNvSpPr>
            <a:spLocks noGrp="1"/>
          </p:cNvSpPr>
          <p:nvPr>
            <p:ph type="sldNum" sz="quarter" idx="12"/>
          </p:nvPr>
        </p:nvSpPr>
        <p:spPr/>
        <p:txBody>
          <a:bodyPr/>
          <a:lstStyle/>
          <a:p>
            <a:fld id="{8C30E469-CD0D-498B-8DDB-D7B03AB8677D}" type="slidenum">
              <a:rPr lang="en-IN" smtClean="0"/>
              <a:t>7</a:t>
            </a:fld>
            <a:endParaRPr lang="en-IN"/>
          </a:p>
        </p:txBody>
      </p:sp>
      <p:pic>
        <p:nvPicPr>
          <p:cNvPr id="8" name="Picture 7">
            <a:extLst>
              <a:ext uri="{FF2B5EF4-FFF2-40B4-BE49-F238E27FC236}">
                <a16:creationId xmlns:a16="http://schemas.microsoft.com/office/drawing/2014/main" id="{EFCBBB07-1978-83FF-ABBE-7FCDD2C012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3" y="1735825"/>
            <a:ext cx="10698589" cy="4163211"/>
          </a:xfrm>
          <a:prstGeom prst="rect">
            <a:avLst/>
          </a:prstGeom>
        </p:spPr>
      </p:pic>
    </p:spTree>
    <p:extLst>
      <p:ext uri="{BB962C8B-B14F-4D97-AF65-F5344CB8AC3E}">
        <p14:creationId xmlns:p14="http://schemas.microsoft.com/office/powerpoint/2010/main" val="2139622420"/>
      </p:ext>
    </p:extLst>
  </p:cSld>
  <p:clrMapOvr>
    <a:masterClrMapping/>
  </p:clrMapOvr>
  <p:transition spd="slow">
    <p:pull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9511233-6ED7-1D8A-B7D4-DD67C6AC7583}"/>
              </a:ext>
            </a:extLst>
          </p:cNvPr>
          <p:cNvPicPr>
            <a:picLocks noChangeAspect="1"/>
          </p:cNvPicPr>
          <p:nvPr/>
        </p:nvPicPr>
        <p:blipFill>
          <a:blip r:embed="rId2">
            <a:extLst>
              <a:ext uri="{28A0092B-C50C-407E-A947-70E740481C1C}">
                <a14:useLocalDpi xmlns:a14="http://schemas.microsoft.com/office/drawing/2010/main" val="0"/>
              </a:ext>
            </a:extLst>
          </a:blip>
          <a:srcRect l="32420"/>
          <a:stretch>
            <a:fillRect/>
          </a:stretch>
        </p:blipFill>
        <p:spPr>
          <a:xfrm>
            <a:off x="835742" y="1012722"/>
            <a:ext cx="8239432" cy="5196840"/>
          </a:xfrm>
          <a:prstGeom prst="rect">
            <a:avLst/>
          </a:prstGeom>
        </p:spPr>
      </p:pic>
    </p:spTree>
    <p:extLst>
      <p:ext uri="{BB962C8B-B14F-4D97-AF65-F5344CB8AC3E}">
        <p14:creationId xmlns:p14="http://schemas.microsoft.com/office/powerpoint/2010/main" val="674289721"/>
      </p:ext>
    </p:extLst>
  </p:cSld>
  <p:clrMapOvr>
    <a:masterClrMapping/>
  </p:clrMapOvr>
  <p:transition spd="slow">
    <p:pull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7755"/>
          </a:xfrm>
        </p:spPr>
        <p:txBody>
          <a:bodyPr>
            <a:normAutofit fontScale="90000"/>
          </a:bodyPr>
          <a:lstStyle/>
          <a:p>
            <a:r>
              <a:rPr lang="en-IN" sz="4900" b="1" u="sng" dirty="0">
                <a:latin typeface="Algerian" panose="04020705040A02060702" pitchFamily="82" charset="0"/>
              </a:rPr>
              <a:t>FEATURES</a:t>
            </a:r>
            <a:endParaRPr b="1" u="sng" dirty="0">
              <a:latin typeface="Algerian" panose="04020705040A02060702" pitchFamily="82" charset="0"/>
            </a:endParaRPr>
          </a:p>
        </p:txBody>
      </p:sp>
      <p:sp>
        <p:nvSpPr>
          <p:cNvPr id="3" name="Content Placeholder 2"/>
          <p:cNvSpPr>
            <a:spLocks noGrp="1"/>
          </p:cNvSpPr>
          <p:nvPr>
            <p:ph idx="1"/>
          </p:nvPr>
        </p:nvSpPr>
        <p:spPr>
          <a:xfrm>
            <a:off x="677334" y="1757466"/>
            <a:ext cx="8596668" cy="3880773"/>
          </a:xfrm>
        </p:spPr>
        <p:txBody>
          <a:bodyPr vert="horz" lIns="91440" tIns="45720" rIns="91440" bIns="45720" rtlCol="0" anchor="t">
            <a:normAutofit/>
          </a:bodyPr>
          <a:lstStyle/>
          <a:p>
            <a:pPr algn="just">
              <a:buFont typeface="Wingdings" pitchFamily="2" charset="2"/>
              <a:buChar char="Ø"/>
            </a:pPr>
            <a:r>
              <a:rPr lang="en-US" dirty="0"/>
              <a:t>Resume upload and automatic resume parsing.</a:t>
            </a:r>
          </a:p>
          <a:p>
            <a:pPr algn="just">
              <a:buFont typeface="Wingdings" pitchFamily="2" charset="2"/>
              <a:buChar char="Ø"/>
            </a:pPr>
            <a:r>
              <a:rPr lang="en-US" dirty="0"/>
              <a:t>AI-based resume analysis using chunking and embeddings.</a:t>
            </a:r>
          </a:p>
          <a:p>
            <a:pPr algn="just">
              <a:buFont typeface="Wingdings" pitchFamily="2" charset="2"/>
              <a:buChar char="Ø"/>
            </a:pPr>
            <a:r>
              <a:rPr lang="en-US" dirty="0"/>
              <a:t>Personalized interview question generation based on resume content.</a:t>
            </a:r>
          </a:p>
          <a:p>
            <a:pPr algn="just">
              <a:buFont typeface="Wingdings" pitchFamily="2" charset="2"/>
              <a:buChar char="Ø"/>
            </a:pPr>
            <a:r>
              <a:rPr lang="en-US" dirty="0"/>
              <a:t>Company-wise and interview-type-wise mock interview selection.</a:t>
            </a:r>
          </a:p>
          <a:p>
            <a:pPr algn="just">
              <a:buFont typeface="Wingdings" pitchFamily="2" charset="2"/>
              <a:buChar char="Ø"/>
            </a:pPr>
            <a:r>
              <a:rPr lang="en-US" dirty="0"/>
              <a:t>Instant scoring and detailed feedback for each answer.</a:t>
            </a:r>
          </a:p>
          <a:p>
            <a:pPr algn="just">
              <a:buFont typeface="Wingdings" pitchFamily="2" charset="2"/>
              <a:buChar char="Ø"/>
            </a:pPr>
            <a:r>
              <a:rPr lang="en-US" dirty="0"/>
              <a:t>Secure storage of user responses and performance data.</a:t>
            </a:r>
          </a:p>
          <a:p>
            <a:pPr algn="just">
              <a:buFont typeface="Wingdings" pitchFamily="2" charset="2"/>
              <a:buChar char="Ø"/>
            </a:pPr>
            <a:r>
              <a:rPr lang="en-US" dirty="0"/>
              <a:t>Performance tracking through a centralized dashboard.</a:t>
            </a:r>
          </a:p>
          <a:p>
            <a:pPr algn="just">
              <a:buFont typeface="Wingdings" pitchFamily="2" charset="2"/>
              <a:buChar char="Ø"/>
            </a:pPr>
            <a:r>
              <a:rPr lang="en-US" dirty="0"/>
              <a:t>End-to-end automated interview training workflow.</a:t>
            </a:r>
          </a:p>
        </p:txBody>
      </p:sp>
    </p:spTree>
  </p:cSld>
  <p:clrMapOvr>
    <a:masterClrMapping/>
  </p:clrMapOvr>
  <p:transition spd="slow">
    <p:pull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708305"/>
            <a:ext cx="8596668" cy="3880773"/>
          </a:xfrm>
        </p:spPr>
        <p:txBody>
          <a:bodyPr vert="horz" lIns="91440" tIns="45720" rIns="91440" bIns="45720" rtlCol="0" anchor="t">
            <a:normAutofit/>
          </a:bodyPr>
          <a:lstStyle/>
          <a:p>
            <a:pPr algn="just">
              <a:buSzPct val="85000"/>
              <a:buFont typeface="Wingdings" pitchFamily="2" charset="2"/>
              <a:buChar char="Ø"/>
            </a:pPr>
            <a:r>
              <a:rPr lang="en-US" dirty="0">
                <a:ea typeface="+mn-lt"/>
                <a:cs typeface="+mn-lt"/>
              </a:rPr>
              <a:t>Accurate extraction of skills and information from resumes with different formats.</a:t>
            </a:r>
          </a:p>
          <a:p>
            <a:pPr algn="just">
              <a:buSzPct val="85000"/>
              <a:buFont typeface="Wingdings" pitchFamily="2" charset="2"/>
              <a:buChar char="Ø"/>
            </a:pPr>
            <a:r>
              <a:rPr lang="en-US" dirty="0">
                <a:ea typeface="+mn-lt"/>
                <a:cs typeface="+mn-lt"/>
              </a:rPr>
              <a:t>Effective chunking of resume content without losing important context.</a:t>
            </a:r>
          </a:p>
          <a:p>
            <a:pPr algn="just">
              <a:buSzPct val="85000"/>
              <a:buFont typeface="Wingdings" pitchFamily="2" charset="2"/>
              <a:buChar char="Ø"/>
            </a:pPr>
            <a:r>
              <a:rPr lang="en-US" dirty="0">
                <a:ea typeface="+mn-lt"/>
                <a:cs typeface="+mn-lt"/>
              </a:rPr>
              <a:t>Generating high-quality embeddings that correctly represent user knowledge.</a:t>
            </a:r>
          </a:p>
          <a:p>
            <a:pPr algn="just">
              <a:buSzPct val="85000"/>
              <a:buFont typeface="Wingdings" pitchFamily="2" charset="2"/>
              <a:buChar char="Ø"/>
            </a:pPr>
            <a:r>
              <a:rPr lang="en-US" dirty="0">
                <a:ea typeface="+mn-lt"/>
                <a:cs typeface="+mn-lt"/>
              </a:rPr>
              <a:t>Efficient storage and fast retrieval of vectors from the vector database.</a:t>
            </a:r>
          </a:p>
          <a:p>
            <a:pPr algn="just">
              <a:buSzPct val="85000"/>
              <a:buFont typeface="Wingdings" pitchFamily="2" charset="2"/>
              <a:buChar char="Ø"/>
            </a:pPr>
            <a:r>
              <a:rPr lang="en-US" dirty="0">
                <a:ea typeface="+mn-lt"/>
                <a:cs typeface="+mn-lt"/>
              </a:rPr>
              <a:t>Maintaining relevance while generating interview questions using LLMs.</a:t>
            </a:r>
          </a:p>
          <a:p>
            <a:pPr algn="just">
              <a:buSzPct val="85000"/>
              <a:buFont typeface="Wingdings" pitchFamily="2" charset="2"/>
              <a:buChar char="Ø"/>
            </a:pPr>
            <a:r>
              <a:rPr lang="en-US" dirty="0">
                <a:ea typeface="+mn-lt"/>
                <a:cs typeface="+mn-lt"/>
              </a:rPr>
              <a:t>Ensuring fair and accurate evaluation of user answers.</a:t>
            </a:r>
          </a:p>
          <a:p>
            <a:pPr algn="just">
              <a:buSzPct val="85000"/>
              <a:buFont typeface="Wingdings" pitchFamily="2" charset="2"/>
              <a:buChar char="Ø"/>
            </a:pPr>
            <a:r>
              <a:rPr lang="en-US" dirty="0">
                <a:ea typeface="+mn-lt"/>
                <a:cs typeface="+mn-lt"/>
              </a:rPr>
              <a:t>Handling multiple API calls while maintaining low response time.</a:t>
            </a:r>
          </a:p>
          <a:p>
            <a:pPr algn="just">
              <a:buSzPct val="85000"/>
              <a:buFont typeface="Wingdings" pitchFamily="2" charset="2"/>
              <a:buChar char="Ø"/>
            </a:pPr>
            <a:r>
              <a:rPr lang="en-US" dirty="0">
                <a:ea typeface="+mn-lt"/>
                <a:cs typeface="+mn-lt"/>
              </a:rPr>
              <a:t>Managing session IDs and user state across different APIs.</a:t>
            </a:r>
          </a:p>
          <a:p>
            <a:pPr algn="just">
              <a:buSzPct val="85000"/>
              <a:buFont typeface="Wingdings" pitchFamily="2" charset="2"/>
              <a:buChar char="Ø"/>
            </a:pPr>
            <a:r>
              <a:rPr lang="en-US" dirty="0">
                <a:ea typeface="+mn-lt"/>
                <a:cs typeface="+mn-lt"/>
              </a:rPr>
              <a:t>Presenting complex evaluation results clearly on the dashboard.</a:t>
            </a:r>
          </a:p>
        </p:txBody>
      </p:sp>
      <p:sp>
        <p:nvSpPr>
          <p:cNvPr id="5" name="Title 4">
            <a:extLst>
              <a:ext uri="{FF2B5EF4-FFF2-40B4-BE49-F238E27FC236}">
                <a16:creationId xmlns:a16="http://schemas.microsoft.com/office/drawing/2014/main" id="{C5363E0A-62E4-2E6F-D377-89EF2C51CD00}"/>
              </a:ext>
            </a:extLst>
          </p:cNvPr>
          <p:cNvSpPr>
            <a:spLocks noGrp="1"/>
          </p:cNvSpPr>
          <p:nvPr>
            <p:ph type="title"/>
          </p:nvPr>
        </p:nvSpPr>
        <p:spPr>
          <a:xfrm>
            <a:off x="677334" y="609600"/>
            <a:ext cx="8596668" cy="776748"/>
          </a:xfrm>
        </p:spPr>
        <p:txBody>
          <a:bodyPr/>
          <a:lstStyle/>
          <a:p>
            <a:r>
              <a:rPr lang="en-GB" sz="4400" b="1" u="sng" dirty="0">
                <a:latin typeface="Algerian" panose="04020705040A02060702" pitchFamily="82" charset="0"/>
              </a:rPr>
              <a:t>CHALLENGES</a:t>
            </a:r>
            <a:endParaRPr lang="en-GB" b="1" u="sng" dirty="0">
              <a:latin typeface="Algerian" panose="04020705040A02060702" pitchFamily="82" charset="0"/>
            </a:endParaRPr>
          </a:p>
        </p:txBody>
      </p:sp>
    </p:spTree>
  </p:cSld>
  <p:clrMapOvr>
    <a:masterClrMapping/>
  </p:clrMapOvr>
  <p:transition spd="slow">
    <p:pull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649312"/>
            <a:ext cx="8596668" cy="3880773"/>
          </a:xfrm>
        </p:spPr>
        <p:txBody>
          <a:bodyPr vert="horz" lIns="91440" tIns="45720" rIns="91440" bIns="45720" rtlCol="0" anchor="t">
            <a:normAutofit/>
          </a:bodyPr>
          <a:lstStyle/>
          <a:p>
            <a:pPr>
              <a:buFont typeface="Wingdings" panose="05000000000000000000" pitchFamily="2" charset="2"/>
              <a:buChar char="Ø"/>
            </a:pPr>
            <a:r>
              <a:rPr lang="en-US" dirty="0"/>
              <a:t>AI-generated questions and feedback may not fully match real interview scenarios.</a:t>
            </a:r>
          </a:p>
          <a:p>
            <a:pPr>
              <a:buFont typeface="Wingdings" panose="05000000000000000000" pitchFamily="2" charset="2"/>
              <a:buChar char="Ø"/>
            </a:pPr>
            <a:r>
              <a:rPr lang="en-US" dirty="0"/>
              <a:t>Resume parsing may be inaccurate with poorly formatted or scanned resumes.</a:t>
            </a:r>
          </a:p>
          <a:p>
            <a:pPr>
              <a:buFont typeface="Wingdings" panose="05000000000000000000" pitchFamily="2" charset="2"/>
              <a:buChar char="Ø"/>
            </a:pPr>
            <a:r>
              <a:rPr lang="en-US" dirty="0"/>
              <a:t>LLM evaluation can misinterpret context or nuances in answers.</a:t>
            </a:r>
          </a:p>
          <a:p>
            <a:pPr>
              <a:buFont typeface="Wingdings" panose="05000000000000000000" pitchFamily="2" charset="2"/>
              <a:buChar char="Ø"/>
            </a:pPr>
            <a:r>
              <a:rPr lang="en-US" dirty="0"/>
              <a:t>System performance depends on stable internet and multiple API calls.</a:t>
            </a:r>
          </a:p>
          <a:p>
            <a:pPr>
              <a:buFont typeface="Wingdings" panose="05000000000000000000" pitchFamily="2" charset="2"/>
              <a:buChar char="Ø"/>
            </a:pPr>
            <a:r>
              <a:rPr lang="en-US" dirty="0"/>
              <a:t>Limited human-like interaction and soft-skill assessment in mock interviews.</a:t>
            </a:r>
          </a:p>
        </p:txBody>
      </p:sp>
      <p:sp>
        <p:nvSpPr>
          <p:cNvPr id="5" name="Title 4">
            <a:extLst>
              <a:ext uri="{FF2B5EF4-FFF2-40B4-BE49-F238E27FC236}">
                <a16:creationId xmlns:a16="http://schemas.microsoft.com/office/drawing/2014/main" id="{8B67E7A1-8E3A-4692-0944-4A20075A9DED}"/>
              </a:ext>
            </a:extLst>
          </p:cNvPr>
          <p:cNvSpPr>
            <a:spLocks noGrp="1"/>
          </p:cNvSpPr>
          <p:nvPr>
            <p:ph type="title"/>
          </p:nvPr>
        </p:nvSpPr>
        <p:spPr>
          <a:xfrm>
            <a:off x="677334" y="609600"/>
            <a:ext cx="8596668" cy="727587"/>
          </a:xfrm>
        </p:spPr>
        <p:txBody>
          <a:bodyPr>
            <a:normAutofit fontScale="90000"/>
          </a:bodyPr>
          <a:lstStyle/>
          <a:p>
            <a:r>
              <a:rPr lang="en-IN" sz="4900" b="1" u="sng" dirty="0">
                <a:latin typeface="Algerian" panose="04020705040A02060702" pitchFamily="82" charset="0"/>
              </a:rPr>
              <a:t>LIMITATIONS</a:t>
            </a:r>
            <a:endParaRPr lang="en-IN" b="1" u="sng" dirty="0">
              <a:latin typeface="Algerian" panose="04020705040A02060702" pitchFamily="82" charset="0"/>
            </a:endParaRPr>
          </a:p>
        </p:txBody>
      </p:sp>
    </p:spTree>
  </p:cSld>
  <p:clrMapOvr>
    <a:masterClrMapping/>
  </p:clrMapOvr>
  <p:transition spd="slow">
    <p:pull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65239"/>
          </a:xfrm>
        </p:spPr>
        <p:txBody>
          <a:bodyPr>
            <a:normAutofit/>
          </a:bodyPr>
          <a:lstStyle/>
          <a:p>
            <a:r>
              <a:rPr lang="en-US" sz="4400" b="1" u="sng" dirty="0">
                <a:latin typeface="Algerian" panose="04020705040A02060702" pitchFamily="82" charset="0"/>
              </a:rPr>
              <a:t>Conclusion</a:t>
            </a:r>
          </a:p>
        </p:txBody>
      </p:sp>
      <p:sp>
        <p:nvSpPr>
          <p:cNvPr id="5" name="Content Placeholder 4">
            <a:extLst>
              <a:ext uri="{FF2B5EF4-FFF2-40B4-BE49-F238E27FC236}">
                <a16:creationId xmlns:a16="http://schemas.microsoft.com/office/drawing/2014/main" id="{E7135B6A-3D14-19D3-2B90-798250D3B9D2}"/>
              </a:ext>
            </a:extLst>
          </p:cNvPr>
          <p:cNvSpPr>
            <a:spLocks noGrp="1"/>
          </p:cNvSpPr>
          <p:nvPr>
            <p:ph idx="1"/>
          </p:nvPr>
        </p:nvSpPr>
        <p:spPr>
          <a:xfrm>
            <a:off x="677334" y="1590318"/>
            <a:ext cx="8596668" cy="3880773"/>
          </a:xfrm>
        </p:spPr>
        <p:txBody>
          <a:bodyPr vert="horz" lIns="91440" tIns="45720" rIns="91440" bIns="45720" rtlCol="0" anchor="t">
            <a:normAutofit/>
          </a:bodyPr>
          <a:lstStyle/>
          <a:p>
            <a:pPr marL="0" indent="0" algn="just">
              <a:buNone/>
            </a:pPr>
            <a:r>
              <a:rPr lang="en-US" dirty="0"/>
              <a:t>Hirable AI – An Interview Trainer is an effective AI-powered solution designed to enhance interview preparation and performance. By integrating resume analysis, intelligent question generation, and automated answer evaluation, the system provides a realistic and personalized mock interview experience. The use of </a:t>
            </a:r>
            <a:r>
              <a:rPr lang="en-US" dirty="0" err="1"/>
              <a:t>FastAPI</a:t>
            </a:r>
            <a:r>
              <a:rPr lang="en-US" dirty="0"/>
              <a:t>, vector databases, and large language models ensures efficient processing, accurate feedback, and scalable performance tracking. The dashboard enables users to monitor progress and identify areas for improvement. Overall, this application helps reduce interview anxiety, strengthen communication skills, and bridge the gap between academic learning and industry expectations, making it a valuable tool for job aspirants seeking to improve their employability.</a:t>
            </a:r>
            <a:endParaRPr lang="en-GB" dirty="0"/>
          </a:p>
        </p:txBody>
      </p:sp>
    </p:spTree>
  </p:cSld>
  <p:clrMapOvr>
    <a:masterClrMapping/>
  </p:clrMapOvr>
  <p:transition spd="slow">
    <p:pull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C0569-B2D8-6FB9-7F37-B719F9B20140}"/>
              </a:ext>
            </a:extLst>
          </p:cNvPr>
          <p:cNvSpPr>
            <a:spLocks noGrp="1"/>
          </p:cNvSpPr>
          <p:nvPr>
            <p:ph type="title"/>
          </p:nvPr>
        </p:nvSpPr>
        <p:spPr>
          <a:xfrm>
            <a:off x="677334" y="609600"/>
            <a:ext cx="8596668" cy="835742"/>
          </a:xfrm>
        </p:spPr>
        <p:txBody>
          <a:bodyPr>
            <a:normAutofit/>
          </a:bodyPr>
          <a:lstStyle/>
          <a:p>
            <a:r>
              <a:rPr lang="en-IN" sz="4400" b="1" u="sng" dirty="0">
                <a:latin typeface="Algerian" panose="04020705040A02060702" pitchFamily="82" charset="0"/>
              </a:rPr>
              <a:t>FUTURE ENHANCEMENT</a:t>
            </a:r>
          </a:p>
        </p:txBody>
      </p:sp>
      <p:sp>
        <p:nvSpPr>
          <p:cNvPr id="3" name="Content Placeholder 2">
            <a:extLst>
              <a:ext uri="{FF2B5EF4-FFF2-40B4-BE49-F238E27FC236}">
                <a16:creationId xmlns:a16="http://schemas.microsoft.com/office/drawing/2014/main" id="{43215D8C-DFE8-9B9E-C9CB-BDA3E56A2C05}"/>
              </a:ext>
            </a:extLst>
          </p:cNvPr>
          <p:cNvSpPr>
            <a:spLocks noGrp="1"/>
          </p:cNvSpPr>
          <p:nvPr>
            <p:ph idx="1"/>
          </p:nvPr>
        </p:nvSpPr>
        <p:spPr>
          <a:xfrm>
            <a:off x="677334" y="1718137"/>
            <a:ext cx="8596668" cy="3880773"/>
          </a:xfrm>
        </p:spPr>
        <p:txBody>
          <a:bodyPr>
            <a:normAutofit lnSpcReduction="10000"/>
          </a:bodyPr>
          <a:lstStyle/>
          <a:p>
            <a:pPr algn="just">
              <a:buFont typeface="Wingdings" panose="05000000000000000000" pitchFamily="2" charset="2"/>
              <a:buChar char="Ø"/>
            </a:pPr>
            <a:r>
              <a:rPr lang="en-US" dirty="0"/>
              <a:t>Enhanced Soft Skills Evaluation – Integrate voice and video analysis to assess communication, tone, and body language.</a:t>
            </a:r>
          </a:p>
          <a:p>
            <a:pPr algn="just">
              <a:buFont typeface="Wingdings" panose="05000000000000000000" pitchFamily="2" charset="2"/>
              <a:buChar char="Ø"/>
            </a:pPr>
            <a:r>
              <a:rPr lang="en-US" dirty="0"/>
              <a:t>Adaptive Question Difficulty – AI can adjust question complexity based on user performance in real-time.</a:t>
            </a:r>
          </a:p>
          <a:p>
            <a:pPr algn="just">
              <a:buFont typeface="Wingdings" panose="05000000000000000000" pitchFamily="2" charset="2"/>
              <a:buChar char="Ø"/>
            </a:pPr>
            <a:r>
              <a:rPr lang="en-US" dirty="0"/>
              <a:t>Integration with Job Portals – Suggest job opportunities based on resume and mock interview results.</a:t>
            </a:r>
          </a:p>
          <a:p>
            <a:pPr algn="just">
              <a:buFont typeface="Wingdings" panose="05000000000000000000" pitchFamily="2" charset="2"/>
              <a:buChar char="Ø"/>
            </a:pPr>
            <a:r>
              <a:rPr lang="en-US" dirty="0"/>
              <a:t>Real-Time Collaborative Mock Interviews – Enable multiple users or mentors to conduct live mock interviews.</a:t>
            </a:r>
          </a:p>
          <a:p>
            <a:pPr algn="just">
              <a:buFont typeface="Wingdings" panose="05000000000000000000" pitchFamily="2" charset="2"/>
              <a:buChar char="Ø"/>
            </a:pPr>
            <a:r>
              <a:rPr lang="en-US" dirty="0"/>
              <a:t>Offline Mode – Allow practicing interview questions and evaluating answers without constant internet.</a:t>
            </a:r>
          </a:p>
          <a:p>
            <a:pPr algn="just">
              <a:buFont typeface="Wingdings" panose="05000000000000000000" pitchFamily="2" charset="2"/>
              <a:buChar char="Ø"/>
            </a:pPr>
            <a:r>
              <a:rPr lang="en-US" dirty="0"/>
              <a:t>AI-Powered Resume Improvement – Suggest edits and improvements to resumes automatically.</a:t>
            </a:r>
            <a:endParaRPr lang="en-IN" dirty="0"/>
          </a:p>
        </p:txBody>
      </p:sp>
    </p:spTree>
    <p:extLst>
      <p:ext uri="{BB962C8B-B14F-4D97-AF65-F5344CB8AC3E}">
        <p14:creationId xmlns:p14="http://schemas.microsoft.com/office/powerpoint/2010/main" val="1629292595"/>
      </p:ext>
    </p:extLst>
  </p:cSld>
  <p:clrMapOvr>
    <a:masterClrMapping/>
  </p:clrMapOvr>
  <p:transition spd="slow">
    <p:pull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9EA2C-9CB7-A8E5-EFC4-EFCBDAA9EFF6}"/>
              </a:ext>
            </a:extLst>
          </p:cNvPr>
          <p:cNvSpPr>
            <a:spLocks noGrp="1"/>
          </p:cNvSpPr>
          <p:nvPr>
            <p:ph type="title"/>
          </p:nvPr>
        </p:nvSpPr>
        <p:spPr>
          <a:xfrm>
            <a:off x="677334" y="609600"/>
            <a:ext cx="8596668" cy="688258"/>
          </a:xfrm>
        </p:spPr>
        <p:txBody>
          <a:bodyPr>
            <a:normAutofit fontScale="90000"/>
          </a:bodyPr>
          <a:lstStyle/>
          <a:p>
            <a:r>
              <a:rPr lang="en-IN" sz="4900" b="1" u="sng" dirty="0">
                <a:latin typeface="Algerian" panose="04020705040A02060702" pitchFamily="82" charset="0"/>
              </a:rPr>
              <a:t>REFERENCES</a:t>
            </a:r>
            <a:endParaRPr lang="en-IN" b="1" u="sng" dirty="0">
              <a:latin typeface="Algerian" panose="04020705040A02060702" pitchFamily="82" charset="0"/>
            </a:endParaRPr>
          </a:p>
        </p:txBody>
      </p:sp>
      <p:sp>
        <p:nvSpPr>
          <p:cNvPr id="3" name="Content Placeholder 2">
            <a:extLst>
              <a:ext uri="{FF2B5EF4-FFF2-40B4-BE49-F238E27FC236}">
                <a16:creationId xmlns:a16="http://schemas.microsoft.com/office/drawing/2014/main" id="{B85DEA80-8067-BCDA-7606-BE37BF65B835}"/>
              </a:ext>
            </a:extLst>
          </p:cNvPr>
          <p:cNvSpPr>
            <a:spLocks noGrp="1"/>
          </p:cNvSpPr>
          <p:nvPr>
            <p:ph idx="1"/>
          </p:nvPr>
        </p:nvSpPr>
        <p:spPr>
          <a:xfrm>
            <a:off x="677334" y="1757466"/>
            <a:ext cx="8596668" cy="3880773"/>
          </a:xfrm>
        </p:spPr>
        <p:txBody>
          <a:bodyPr/>
          <a:lstStyle/>
          <a:p>
            <a:pPr>
              <a:buFont typeface="Wingdings" panose="05000000000000000000" pitchFamily="2" charset="2"/>
              <a:buChar char="Ø"/>
            </a:pPr>
            <a:r>
              <a:rPr lang="en-US" dirty="0" err="1"/>
              <a:t>FastAPI</a:t>
            </a:r>
            <a:r>
              <a:rPr lang="en-US" dirty="0"/>
              <a:t> official documentation.</a:t>
            </a:r>
          </a:p>
          <a:p>
            <a:pPr>
              <a:buFont typeface="Wingdings" panose="05000000000000000000" pitchFamily="2" charset="2"/>
              <a:buChar char="Ø"/>
            </a:pPr>
            <a:r>
              <a:rPr lang="en-IN" dirty="0"/>
              <a:t>Python and </a:t>
            </a:r>
            <a:r>
              <a:rPr lang="en-IN" dirty="0" err="1"/>
              <a:t>numpy</a:t>
            </a:r>
            <a:r>
              <a:rPr lang="en-IN" dirty="0"/>
              <a:t> documentation for vector logic.</a:t>
            </a:r>
          </a:p>
          <a:p>
            <a:pPr>
              <a:buFont typeface="Wingdings" panose="05000000000000000000" pitchFamily="2" charset="2"/>
              <a:buChar char="Ø"/>
            </a:pPr>
            <a:r>
              <a:rPr lang="en-US" dirty="0"/>
              <a:t>Large Language Model (LLM) APIs for NLP tasks.</a:t>
            </a:r>
          </a:p>
          <a:p>
            <a:pPr>
              <a:buFont typeface="Wingdings" panose="05000000000000000000" pitchFamily="2" charset="2"/>
              <a:buChar char="Ø"/>
            </a:pPr>
            <a:r>
              <a:rPr lang="en-US" dirty="0"/>
              <a:t>Natural Language Processing concepts for resume analysis.</a:t>
            </a:r>
          </a:p>
          <a:p>
            <a:pPr>
              <a:buFont typeface="Wingdings" panose="05000000000000000000" pitchFamily="2" charset="2"/>
              <a:buChar char="Ø"/>
            </a:pPr>
            <a:r>
              <a:rPr lang="en-IN" dirty="0"/>
              <a:t>REST API architecture principles.</a:t>
            </a:r>
          </a:p>
        </p:txBody>
      </p:sp>
    </p:spTree>
    <p:extLst>
      <p:ext uri="{BB962C8B-B14F-4D97-AF65-F5344CB8AC3E}">
        <p14:creationId xmlns:p14="http://schemas.microsoft.com/office/powerpoint/2010/main" val="4159840665"/>
      </p:ext>
    </p:extLst>
  </p:cSld>
  <p:clrMapOvr>
    <a:masterClrMapping/>
  </p:clrMapOvr>
  <p:transition spd="slow">
    <p:pull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9CC4D-075E-4162-9C4A-AAD5907F2A81}"/>
              </a:ext>
            </a:extLst>
          </p:cNvPr>
          <p:cNvSpPr>
            <a:spLocks noGrp="1"/>
          </p:cNvSpPr>
          <p:nvPr>
            <p:ph type="title"/>
          </p:nvPr>
        </p:nvSpPr>
        <p:spPr>
          <a:xfrm>
            <a:off x="4291445" y="2815937"/>
            <a:ext cx="7471063" cy="1579418"/>
          </a:xfrm>
        </p:spPr>
        <p:txBody>
          <a:bodyPr/>
          <a:lstStyle/>
          <a:p>
            <a:r>
              <a:rPr lang="en-IN" sz="4800" b="1" dirty="0">
                <a:latin typeface="Algerian" panose="04020705040A02060702" pitchFamily="82" charset="0"/>
              </a:rPr>
              <a:t>THANK YOU !</a:t>
            </a:r>
          </a:p>
        </p:txBody>
      </p:sp>
      <p:sp>
        <p:nvSpPr>
          <p:cNvPr id="3" name="Content Placeholder 2">
            <a:extLst>
              <a:ext uri="{FF2B5EF4-FFF2-40B4-BE49-F238E27FC236}">
                <a16:creationId xmlns:a16="http://schemas.microsoft.com/office/drawing/2014/main" id="{CF0D4FC7-8E4D-4BBC-AB86-3579EE05177F}"/>
              </a:ext>
            </a:extLst>
          </p:cNvPr>
          <p:cNvSpPr>
            <a:spLocks noGrp="1"/>
          </p:cNvSpPr>
          <p:nvPr>
            <p:ph idx="1"/>
          </p:nvPr>
        </p:nvSpPr>
        <p:spPr>
          <a:xfrm>
            <a:off x="677334" y="2160589"/>
            <a:ext cx="8963816" cy="3880773"/>
          </a:xfrm>
        </p:spPr>
        <p:txBody>
          <a:bodyPr/>
          <a:lstStyle/>
          <a:p>
            <a:pPr marL="0" indent="0">
              <a:buNone/>
            </a:pPr>
            <a:endParaRPr lang="en-US" sz="4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72620687"/>
      </p:ext>
    </p:extLst>
  </p:cSld>
  <p:clrMapOvr>
    <a:masterClrMapping/>
  </p:clrMapOvr>
  <p:transition spd="slow">
    <p:pull dir="ld"/>
  </p:transition>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727</TotalTime>
  <Words>813</Words>
  <Application>Microsoft Office PowerPoint</Application>
  <PresentationFormat>Widescreen</PresentationFormat>
  <Paragraphs>116</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Algerian</vt:lpstr>
      <vt:lpstr>Arial</vt:lpstr>
      <vt:lpstr>Calibri</vt:lpstr>
      <vt:lpstr>Tahoma</vt:lpstr>
      <vt:lpstr>Times New Roman</vt:lpstr>
      <vt:lpstr>Trebuchet MS</vt:lpstr>
      <vt:lpstr>Wingdings</vt:lpstr>
      <vt:lpstr>Wingdings 3</vt:lpstr>
      <vt:lpstr>Facet</vt:lpstr>
      <vt:lpstr> Learning PROJECT  PRESENTATION ON  “ HIRABLE AI – AN INTERVIEW TRAINER ”</vt:lpstr>
      <vt:lpstr>OUTLINES</vt:lpstr>
      <vt:lpstr>PROBLEM STATEMENT</vt:lpstr>
      <vt:lpstr>INTRODUCTION</vt:lpstr>
      <vt:lpstr>TECHNOLOGIES USED</vt:lpstr>
      <vt:lpstr>FLOW CHART</vt:lpstr>
      <vt:lpstr>ER DIAGRAM</vt:lpstr>
      <vt:lpstr>PowerPoint Presentation</vt:lpstr>
      <vt:lpstr>FEATURES</vt:lpstr>
      <vt:lpstr>CHALLENGES</vt:lpstr>
      <vt:lpstr>LIMITATIONS</vt:lpstr>
      <vt:lpstr>Conclusion</vt:lpstr>
      <vt:lpstr>FUTURE ENHANCEMENT</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Biswajeet Sahu</dc:creator>
  <cp:lastModifiedBy>Nitin Prasad Singh</cp:lastModifiedBy>
  <cp:revision>400</cp:revision>
  <dcterms:created xsi:type="dcterms:W3CDTF">2025-03-28T05:14:41Z</dcterms:created>
  <dcterms:modified xsi:type="dcterms:W3CDTF">2026-04-11T07:15:42Z</dcterms:modified>
</cp:coreProperties>
</file>